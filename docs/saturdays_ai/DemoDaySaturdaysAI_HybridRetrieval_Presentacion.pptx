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oportunidad" id="{2dc944b4-501b-ca38-78eb-b4a77aa0389c}">
          <p14:sldIdLst>
            <p14:sldId id="256"/>
            <p14:sldId id="257"/>
            <p14:sldId id="258"/>
          </p14:sldIdLst>
        </p14:section>
        <p14:section name="Solución y arquitectura" id="{038e9601-a8fb-a27b-1bd8-0dcf65b73dc9}">
          <p14:sldIdLst>
            <p14:sldId id="259"/>
            <p14:sldId id="260"/>
          </p14:sldIdLst>
        </p14:section>
        <p14:section name="Tecnología y resultados" id="{281c7ddb-568b-366f-9b6c-02eb504eab59}">
          <p14:sldIdLst>
            <p14:sldId id="261"/>
            <p14:sldId id="262"/>
            <p14:sldId id="263"/>
          </p14:sldIdLst>
        </p14:section>
        <p14:section name="Demo" id="{8c7115e5-47da-9df4-1fd2-136e0994cb24}">
          <p14:sldIdLst>
            <p14:sldId id="264"/>
          </p14:sldIdLst>
        </p14:section>
        <p14:section name="Impacto y próximos pasos" id="{352b015d-7407-6fe2-1a26-5ffc12b25e47}">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215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lvl1pPr algn="l" indent="0" marL="0">
              <a:buNone/>
              <a:defRPr lang="en-US" sz="1800" dirty="0">
                <a:solidFill>
                  <a:srgbClr val="EEF1F8"/>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640080" y="1463040"/>
            <a:ext cx="10881360" cy="4846320"/>
          </a:xfrm>
          <a:prstGeom prst="rect">
            <a:avLst/>
          </a:prstGeom>
          <a:noFill/>
          <a:ln/>
        </p:spPr>
        <p:txBody>
          <a:bodyPr wrap="square" rtlCol="0"/>
          <a:lstStyle>
            <a:lvl1pPr algn="l" indent="0" marL="0">
              <a:buNone/>
              <a:defRPr lang="en-US" sz="1600" dirty="0">
                <a:solidFill>
                  <a:srgbClr val="242A44"/>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4"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FRE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b="1" spc="200" kern="0" dirty="0">
                <a:solidFill>
                  <a:srgbClr val="EEF1F8"/>
                </a:solidFill>
                <a:latin typeface="Calibri" pitchFamily="34" charset="0"/>
                <a:ea typeface="Calibri" pitchFamily="34" charset="-122"/>
                <a:cs typeface="Calibri" pitchFamily="34" charset="-120"/>
              </a:rPr>
              <a:t>DemoDay Saturdays AI Quito 2026</a:t>
            </a:r>
            <a:endParaRPr lang="en-US" sz="1800" dirty="0"/>
          </a:p>
        </p:txBody>
      </p:sp>
      <p:sp>
        <p:nvSpPr>
          <p:cNvPr id="3"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Validación de Sílabos Universitarios</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con RAG</a:t>
            </a:r>
            <a:endParaRPr lang="en-US" sz="4000" dirty="0"/>
          </a:p>
        </p:txBody>
      </p:sp>
      <p:sp>
        <p:nvSpPr>
          <p:cNvPr id="4"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Retrieval-Augmented Generation aplicado al cumplimiento normativo académico</a:t>
            </a:r>
            <a:endParaRPr lang="en-US" sz="1800" dirty="0"/>
          </a:p>
        </p:txBody>
      </p:sp>
      <p:sp>
        <p:nvSpPr>
          <p:cNvPr id="5" name="Text 3"/>
          <p:cNvSpPr txBox="1"/>
          <p:nvPr/>
        </p:nvSpPr>
        <p:spPr>
          <a:xfrm>
            <a:off x="822960" y="5577840"/>
            <a:ext cx="10058400" cy="914400"/>
          </a:xfrm>
          <a:prstGeom prst="rect">
            <a:avLst/>
          </a:prstGeom>
          <a:noFill/>
          <a:ln/>
        </p:spPr>
        <p:txBody>
          <a:bodyPr wrap="square" lIns="0" tIns="0" rIns="0" bIns="0" rtlCol="0" anchor="ctr"/>
          <a:lstStyle/>
          <a:p>
            <a:pPr indent="0" marL="0">
              <a:buNone/>
            </a:pPr>
            <a:r>
              <a:rPr lang="en-US" sz="1200" dirty="0">
                <a:solidFill>
                  <a:srgbClr val="67728F"/>
                </a:solidFill>
                <a:latin typeface="Calibri" pitchFamily="34" charset="0"/>
                <a:ea typeface="Calibri" pitchFamily="34" charset="-122"/>
                <a:cs typeface="Calibri" pitchFamily="34" charset="-120"/>
              </a:rPr>
              <a:t>Francisco Javier Higuera González  ·  Cristian Guillermo  ·  José Francisco Silva</a:t>
            </a:r>
          </a:p>
          <a:p>
            <a:pPr indent="0" marL="0">
              <a:spcBef>
                <a:spcPts val="400"/>
              </a:spcBef>
              <a:buNone/>
            </a:pPr>
            <a:r>
              <a:rPr lang="en-US" sz="1200" dirty="0">
                <a:solidFill>
                  <a:srgbClr val="67728F"/>
                </a:solidFill>
                <a:latin typeface="Calibri" pitchFamily="34" charset="0"/>
                <a:ea typeface="Calibri" pitchFamily="34" charset="-122"/>
                <a:cs typeface="Calibri" pitchFamily="34" charset="-120"/>
              </a:rPr>
              <a:t>Unidad Académica Especializada en la Formación Técnica y Tecnológica  ·  Universidad UTE  ·  francisco.higuera@ute.edu.ec</a:t>
            </a:r>
          </a:p>
        </p:txBody>
      </p:sp>
      <p:sp>
        <p:nvSpPr>
          <p:cNvPr id="6" name="Shape 4"/>
          <p:cNvSpPr/>
          <p:nvPr/>
        </p:nvSpPr>
        <p:spPr>
          <a:xfrm>
            <a:off x="9692640" y="548640"/>
            <a:ext cx="1828800" cy="1828800"/>
          </a:xfrm>
          <a:prstGeom prst="roundRect">
            <a:avLst>
              <a:gd name="adj" fmla="val 25000"/>
            </a:avLst>
          </a:prstGeom>
          <a:solidFill>
            <a:srgbClr val="11838D"/>
          </a:solidFill>
          <a:ln/>
        </p:spPr>
      </p:sp>
      <p:sp>
        <p:nvSpPr>
          <p:cNvPr id="7" name="Text 5"/>
          <p:cNvSpPr txBox="1"/>
          <p:nvPr/>
        </p:nvSpPr>
        <p:spPr>
          <a:xfrm>
            <a:off x="9692640" y="548640"/>
            <a:ext cx="1828800" cy="1828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RAG</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problema: revisar un sílabo contra el reglamento es manual, lento y sin trazabilidad</a:t>
            </a:r>
            <a:endParaRPr lang="en-US" sz="3000" dirty="0"/>
          </a:p>
        </p:txBody>
      </p:sp>
      <p:sp>
        <p:nvSpPr>
          <p:cNvPr id="3" name="Shape 1"/>
          <p:cNvSpPr/>
          <p:nvPr/>
        </p:nvSpPr>
        <p:spPr>
          <a:xfrm>
            <a:off x="640080"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67728F"/>
          </a:solidFill>
          <a:ln/>
        </p:spPr>
      </p:sp>
      <p:sp>
        <p:nvSpPr>
          <p:cNvPr id="5" name="Text 3"/>
          <p:cNvSpPr txBox="1"/>
          <p:nvPr/>
        </p:nvSpPr>
        <p:spPr>
          <a:xfrm>
            <a:off x="1371600"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Hoy</a:t>
            </a:r>
            <a:endParaRPr lang="en-US" sz="1500" dirty="0"/>
          </a:p>
        </p:txBody>
      </p:sp>
      <p:sp>
        <p:nvSpPr>
          <p:cNvPr id="6" name="Text 4"/>
          <p:cNvSpPr txBox="1"/>
          <p:nvPr/>
        </p:nvSpPr>
        <p:spPr>
          <a:xfrm>
            <a:off x="914400"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Un coordinador lee el sílabo y busca manualmente en reglamentos de decenas de páginas si cumple cada requisito.</a:t>
            </a:r>
            <a:endParaRPr lang="en-US" sz="1200" dirty="0"/>
          </a:p>
        </p:txBody>
      </p:sp>
      <p:sp>
        <p:nvSpPr>
          <p:cNvPr id="7" name="Shape 5"/>
          <p:cNvSpPr/>
          <p:nvPr/>
        </p:nvSpPr>
        <p:spPr>
          <a:xfrm>
            <a:off x="4379976"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4608576" y="1874520"/>
            <a:ext cx="384048" cy="384048"/>
          </a:xfrm>
          <a:prstGeom prst="ellipse">
            <a:avLst/>
          </a:prstGeom>
          <a:solidFill>
            <a:srgbClr val="414C74"/>
          </a:solidFill>
          <a:ln/>
        </p:spPr>
      </p:sp>
      <p:sp>
        <p:nvSpPr>
          <p:cNvPr id="9" name="Text 7"/>
          <p:cNvSpPr txBox="1"/>
          <p:nvPr/>
        </p:nvSpPr>
        <p:spPr>
          <a:xfrm>
            <a:off x="5111496"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El riesgo</a:t>
            </a:r>
            <a:endParaRPr lang="en-US" sz="1500" dirty="0"/>
          </a:p>
        </p:txBody>
      </p:sp>
      <p:sp>
        <p:nvSpPr>
          <p:cNvPr id="10" name="Text 8"/>
          <p:cNvSpPr txBox="1"/>
          <p:nvPr/>
        </p:nvSpPr>
        <p:spPr>
          <a:xfrm>
            <a:off x="4654296"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criterio varía entre revisores y rara vez queda registrado qué artículo exige cada elemento — afecta procesos de acreditación.</a:t>
            </a:r>
            <a:endParaRPr lang="en-US" sz="1200" dirty="0"/>
          </a:p>
        </p:txBody>
      </p:sp>
      <p:sp>
        <p:nvSpPr>
          <p:cNvPr id="11" name="Shape 9"/>
          <p:cNvSpPr/>
          <p:nvPr/>
        </p:nvSpPr>
        <p:spPr>
          <a:xfrm>
            <a:off x="8119872"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348472" y="1874520"/>
            <a:ext cx="384048" cy="384048"/>
          </a:xfrm>
          <a:prstGeom prst="ellipse">
            <a:avLst/>
          </a:prstGeom>
          <a:solidFill>
            <a:srgbClr val="1AA3AF"/>
          </a:solidFill>
          <a:ln/>
        </p:spPr>
      </p:sp>
      <p:sp>
        <p:nvSpPr>
          <p:cNvPr id="13" name="Text 11"/>
          <p:cNvSpPr txBox="1"/>
          <p:nvPr/>
        </p:nvSpPr>
        <p:spPr>
          <a:xfrm>
            <a:off x="8851392"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Para quién</a:t>
            </a:r>
            <a:endParaRPr lang="en-US" sz="1500" dirty="0"/>
          </a:p>
        </p:txBody>
      </p:sp>
      <p:sp>
        <p:nvSpPr>
          <p:cNvPr id="14" name="Text 12"/>
          <p:cNvSpPr txBox="1"/>
          <p:nvPr/>
        </p:nvSpPr>
        <p:spPr>
          <a:xfrm>
            <a:off x="8394192"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Coordinadores y directores de carrera de la UTE que revisan sílabos antes de cada periodo académico.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mejora: de minutos/horas por sílabo a segundos, con la cita exacta del artículo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4206240"/>
        </p:xfrm>
        <a:graphic>
          <a:graphicData uri="http://schemas.openxmlformats.org/drawingml/2006/table">
            <a:tbl>
              <a:tblPr/>
              <a:tblGrid>
                <a:gridCol w="2194560"/>
                <a:gridCol w="4343400"/>
                <a:gridCol w="4343400"/>
              </a:tblGrid>
              <a:tr h="841248">
                <a:tc>
                  <a:txBody>
                    <a:bodyPr/>
                    <a:lstStyle/>
                    <a:p>
                      <a:pPr indent="0" marL="0">
                        <a:buNone/>
                      </a:pP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Antes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 el sistema (RAG)</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Tiempo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Minutos a horas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Segundos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Criterio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Varía según el revisor</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Mismo checklist de 5 criterios, siempre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Trazabilidad</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Rara vez se cita el artículo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Cada veredicto cita artículo y documento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Entrada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Solo lectura manual</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Texto pegado o archivo Word (.docx)</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Text 0"/>
          <p:cNvSpPr/>
          <p:nvPr>
            <p:ph idx="101" type="body" hasCustomPrompt="1"/>
          </p:nvPr>
        </p:nvSpPr>
        <p:spPr>
          <a:xfrm>
            <a:off x="640080" y="1463040"/>
            <a:ext cx="10881360" cy="4846320"/>
          </a:xfrm>
          <a:prstGeom prst="rect">
            <a:avLst/>
          </a:prstGeom>
          <a:noFill/>
          <a:ln/>
        </p:spPr>
        <p:txBody>
          <a:bodyPr wrap="square" rtlCol="0"/>
          <a:lstStyle/>
          <a:p>
            <a:pPr algn="l" indent="0" marL="0">
              <a:buNone/>
            </a:pPr>
            <a:endParaRPr lang="en-US" sz="16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solución: RAG fundamentado en el corpus real de normativa de la UTE</a:t>
            </a:r>
            <a:endParaRPr lang="en-US" sz="3000" dirty="0"/>
          </a:p>
        </p:txBody>
      </p:sp>
      <p:sp>
        <p:nvSpPr>
          <p:cNvPr id="3" name="Text 1"/>
          <p:cNvSpPr txBox="1"/>
          <p:nvPr/>
        </p:nvSpPr>
        <p:spPr>
          <a:xfrm>
            <a:off x="640080" y="1554480"/>
            <a:ext cx="6400800" cy="438912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Por cada criterio del checklist, el sistema recupera los 3 fragmentos de normativa más relevantes y le pide al modelo un veredicto citando el artículo exacto.</a:t>
            </a:r>
            <a:endParaRPr lang="en-US" sz="1500" dirty="0"/>
          </a:p>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No es ML (Machine Learning: aprendizaje automático supervisado) clásico ni un agente con herramientas externas: es RAG — recuperación híbrida (semántica + BM25, un algoritmo clásico de ranking por palabra clave) fusionada con RRF (Reciprocal Rank Fusion), más generación grounded, comparado en vivo contra un baseline sin recuperación.</a:t>
            </a:r>
            <a:endParaRPr lang="en-US" sz="1500" dirty="0"/>
          </a:p>
          <a:p>
            <a:pPr marL="342900" indent="-342900">
              <a:buSzPct val="100000"/>
              <a:buChar char="•"/>
            </a:pPr>
            <a:r>
              <a:rPr lang="en-US" sz="1500" dirty="0">
                <a:solidFill>
                  <a:srgbClr val="242A44"/>
                </a:solidFill>
                <a:latin typeface="Calibri" pitchFamily="34" charset="0"/>
                <a:ea typeface="Calibri" pitchFamily="34" charset="-122"/>
                <a:cs typeface="Calibri" pitchFamily="34" charset="-120"/>
              </a:rPr>
              <a:t>El mismo motor de recuperación refuerza, como mejora secundaria, las pistas del AI Tutor ya existente en la plataforma.</a:t>
            </a:r>
            <a:endParaRPr lang="en-US" sz="1500" dirty="0"/>
          </a:p>
        </p:txBody>
      </p:sp>
      <p:sp>
        <p:nvSpPr>
          <p:cNvPr id="4" name="Shape 2"/>
          <p:cNvSpPr/>
          <p:nvPr/>
        </p:nvSpPr>
        <p:spPr>
          <a:xfrm>
            <a:off x="7406640" y="1554480"/>
            <a:ext cx="4114800" cy="1920240"/>
          </a:xfrm>
          <a:prstGeom prst="roundRect">
            <a:avLst>
              <a:gd name="adj" fmla="val 3810"/>
            </a:avLst>
          </a:prstGeom>
          <a:solidFill>
            <a:srgbClr val="EEF1F8"/>
          </a:solidFill>
          <a:ln/>
          <a:effectLst>
            <a:outerShdw sx="100000" sy="100000" kx="0" ky="0" algn="bl" rotWithShape="0" blurRad="76200" dist="25400" dir="5400000">
              <a:srgbClr val="000000">
                <a:alpha val="12000"/>
              </a:srgbClr>
            </a:outerShdw>
          </a:effectLst>
        </p:spPr>
      </p:sp>
      <p:sp>
        <p:nvSpPr>
          <p:cNvPr id="5" name="Shape 3"/>
          <p:cNvSpPr/>
          <p:nvPr/>
        </p:nvSpPr>
        <p:spPr>
          <a:xfrm>
            <a:off x="7635240" y="1783080"/>
            <a:ext cx="384048" cy="384048"/>
          </a:xfrm>
          <a:prstGeom prst="ellipse">
            <a:avLst/>
          </a:prstGeom>
          <a:solidFill>
            <a:srgbClr val="1AA3AF"/>
          </a:solidFill>
          <a:ln/>
        </p:spPr>
      </p:sp>
      <p:sp>
        <p:nvSpPr>
          <p:cNvPr id="6" name="Text 4"/>
          <p:cNvSpPr txBox="1"/>
          <p:nvPr/>
        </p:nvSpPr>
        <p:spPr>
          <a:xfrm>
            <a:off x="8138160" y="1755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IA?</a:t>
            </a:r>
            <a:endParaRPr lang="en-US" sz="1500" dirty="0"/>
          </a:p>
        </p:txBody>
      </p:sp>
      <p:sp>
        <p:nvSpPr>
          <p:cNvPr id="7" name="Text 5"/>
          <p:cNvSpPr txBox="1"/>
          <p:nvPr/>
        </p:nvSpPr>
        <p:spPr>
          <a:xfrm>
            <a:off x="7680960" y="2304288"/>
            <a:ext cx="3566160" cy="1005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lenguaje de un sílabo es libre — una regla de palabras clave no basta; se necesita entender equivalencias semánticas y explicar en lenguaje natural.</a:t>
            </a:r>
            <a:endParaRPr lang="en-US" sz="1200" dirty="0"/>
          </a:p>
        </p:txBody>
      </p:sp>
      <p:sp>
        <p:nvSpPr>
          <p:cNvPr id="8" name="Shape 6"/>
          <p:cNvSpPr/>
          <p:nvPr/>
        </p:nvSpPr>
        <p:spPr>
          <a:xfrm>
            <a:off x="7406640" y="3840480"/>
            <a:ext cx="4114800"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9" name="Shape 7"/>
          <p:cNvSpPr/>
          <p:nvPr/>
        </p:nvSpPr>
        <p:spPr>
          <a:xfrm>
            <a:off x="7635240" y="4069080"/>
            <a:ext cx="384048" cy="384048"/>
          </a:xfrm>
          <a:prstGeom prst="ellipse">
            <a:avLst/>
          </a:prstGeom>
          <a:solidFill>
            <a:srgbClr val="414C74"/>
          </a:solidFill>
          <a:ln/>
        </p:spPr>
      </p:sp>
      <p:sp>
        <p:nvSpPr>
          <p:cNvPr id="10" name="Text 8"/>
          <p:cNvSpPr txBox="1"/>
          <p:nvPr/>
        </p:nvSpPr>
        <p:spPr>
          <a:xfrm>
            <a:off x="8138160" y="4041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Veredictos posibles</a:t>
            </a:r>
            <a:endParaRPr lang="en-US" sz="1500" dirty="0"/>
          </a:p>
        </p:txBody>
      </p:sp>
      <p:sp>
        <p:nvSpPr>
          <p:cNvPr id="11" name="Text 9"/>
          <p:cNvSpPr txBox="1"/>
          <p:nvPr/>
        </p:nvSpPr>
        <p:spPr>
          <a:xfrm>
            <a:off x="7680960" y="4590288"/>
            <a:ext cx="3566160"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CUMPLE · NO_CUMPLE · NO_DETERMINADO — el sistema nunca inventa cumplimiento sin evidencia recuperada.</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Arquitectura: cómputo real en el HPC de CEDIA, servido desde el VPS de producción</a:t>
            </a:r>
            <a:endParaRPr lang="en-US" sz="3000" dirty="0"/>
          </a:p>
        </p:txBody>
      </p:sp>
      <p:sp>
        <p:nvSpPr>
          <p:cNvPr id="3" name="Text 1"/>
          <p:cNvSpPr txBox="1"/>
          <p:nvPr/>
        </p:nvSpPr>
        <p:spPr>
          <a:xfrm>
            <a:off x="640080" y="1371600"/>
            <a:ext cx="10881360" cy="274320"/>
          </a:xfrm>
          <a:prstGeom prst="rect">
            <a:avLst/>
          </a:prstGeom>
          <a:noFill/>
          <a:ln/>
        </p:spPr>
        <p:txBody>
          <a:bodyPr wrap="square" lIns="0" tIns="0" rIns="0" bIns="0" rtlCol="0" anchor="ctr"/>
          <a:lstStyle/>
          <a:p>
            <a:pPr indent="0" marL="0">
              <a:buNone/>
            </a:pPr>
            <a:r>
              <a:rPr lang="en-US" sz="1050" i="1" dirty="0">
                <a:solidFill>
                  <a:srgbClr val="67728F"/>
                </a:solidFill>
                <a:latin typeface="Calibri" pitchFamily="34" charset="0"/>
                <a:ea typeface="Calibri" pitchFamily="34" charset="-122"/>
                <a:cs typeface="Calibri" pitchFamily="34" charset="-120"/>
              </a:rPr>
              <a:t>HPC (cómputo de alto rendimiento)  ·  CEDIA (consorcio ecuatoriano de cómputo académico)  ·  VPS (servidor privado virtual)  ·  GPU/CPU (procesador gráfico / central)</a:t>
            </a:r>
            <a:endParaRPr lang="en-US" sz="1050" dirty="0"/>
          </a:p>
        </p:txBody>
      </p:sp>
      <p:sp>
        <p:nvSpPr>
          <p:cNvPr id="4" name="Shape 2"/>
          <p:cNvSpPr/>
          <p:nvPr/>
        </p:nvSpPr>
        <p:spPr>
          <a:xfrm>
            <a:off x="640080" y="1737360"/>
            <a:ext cx="4937760" cy="3931920"/>
          </a:xfrm>
          <a:prstGeom prst="roundRect">
            <a:avLst>
              <a:gd name="adj" fmla="val 2326"/>
            </a:avLst>
          </a:prstGeom>
          <a:solidFill>
            <a:srgbClr val="EEF1F8"/>
          </a:solidFill>
          <a:ln w="19050">
            <a:solidFill>
              <a:srgbClr val="414C74"/>
            </a:solidFill>
            <a:prstDash val="solid"/>
          </a:ln>
        </p:spPr>
      </p:sp>
      <p:sp>
        <p:nvSpPr>
          <p:cNvPr id="5" name="Text 3"/>
          <p:cNvSpPr txBox="1"/>
          <p:nvPr/>
        </p:nvSpPr>
        <p:spPr>
          <a:xfrm>
            <a:off x="822960" y="1874520"/>
            <a:ext cx="4572000" cy="365760"/>
          </a:xfrm>
          <a:prstGeom prst="rect">
            <a:avLst/>
          </a:prstGeom>
          <a:noFill/>
          <a:ln/>
        </p:spPr>
        <p:txBody>
          <a:bodyPr wrap="square" lIns="0" tIns="0" rIns="0" bIns="0" rtlCol="0" anchor="ctr"/>
          <a:lstStyle/>
          <a:p>
            <a:pPr indent="0" marL="0">
              <a:buNone/>
            </a:pPr>
            <a:r>
              <a:rPr lang="en-US" sz="1600" b="1" dirty="0">
                <a:solidFill>
                  <a:srgbClr val="121526"/>
                </a:solidFill>
                <a:latin typeface="Cambria" pitchFamily="34" charset="0"/>
                <a:ea typeface="Cambria" pitchFamily="34" charset="-122"/>
                <a:cs typeface="Cambria" pitchFamily="34" charset="-120"/>
              </a:rPr>
              <a:t>VPS de producción</a:t>
            </a:r>
            <a:endParaRPr lang="en-US" sz="1600" dirty="0"/>
          </a:p>
        </p:txBody>
      </p:sp>
      <p:sp>
        <p:nvSpPr>
          <p:cNvPr id="6" name="Shape 4"/>
          <p:cNvSpPr/>
          <p:nvPr/>
        </p:nvSpPr>
        <p:spPr>
          <a:xfrm>
            <a:off x="868680" y="242316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7" name="Text 5"/>
          <p:cNvSpPr txBox="1"/>
          <p:nvPr/>
        </p:nvSpPr>
        <p:spPr>
          <a:xfrm>
            <a:off x="1051560" y="249631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API FastAPI</a:t>
            </a:r>
            <a:endParaRPr lang="en-US" sz="1300" dirty="0"/>
          </a:p>
        </p:txBody>
      </p:sp>
      <p:sp>
        <p:nvSpPr>
          <p:cNvPr id="8" name="Text 6"/>
          <p:cNvSpPr txBox="1"/>
          <p:nvPr/>
        </p:nvSpPr>
        <p:spPr>
          <a:xfrm>
            <a:off x="1051560" y="278892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API (interfaz de programación): autenticación, permisos, endpoints RAG</a:t>
            </a:r>
            <a:endParaRPr lang="en-US" sz="1050" dirty="0"/>
          </a:p>
        </p:txBody>
      </p:sp>
      <p:sp>
        <p:nvSpPr>
          <p:cNvPr id="9" name="Shape 7"/>
          <p:cNvSpPr/>
          <p:nvPr/>
        </p:nvSpPr>
        <p:spPr>
          <a:xfrm>
            <a:off x="868680" y="347472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0" name="Text 8"/>
          <p:cNvSpPr txBox="1"/>
          <p:nvPr/>
        </p:nvSpPr>
        <p:spPr>
          <a:xfrm>
            <a:off x="1051560" y="354787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Frontend React</a:t>
            </a:r>
            <a:endParaRPr lang="en-US" sz="1300" dirty="0"/>
          </a:p>
        </p:txBody>
      </p:sp>
      <p:sp>
        <p:nvSpPr>
          <p:cNvPr id="11" name="Text 9"/>
          <p:cNvSpPr txBox="1"/>
          <p:nvPr/>
        </p:nvSpPr>
        <p:spPr>
          <a:xfrm>
            <a:off x="1051560" y="384048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4 idiomas, integrado al resto de la plataforma</a:t>
            </a:r>
            <a:endParaRPr lang="en-US" sz="1050" dirty="0"/>
          </a:p>
        </p:txBody>
      </p:sp>
      <p:sp>
        <p:nvSpPr>
          <p:cNvPr id="12" name="Shape 10"/>
          <p:cNvSpPr/>
          <p:nvPr/>
        </p:nvSpPr>
        <p:spPr>
          <a:xfrm>
            <a:off x="868680" y="452628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3" name="Text 11"/>
          <p:cNvSpPr txBox="1"/>
          <p:nvPr/>
        </p:nvSpPr>
        <p:spPr>
          <a:xfrm>
            <a:off x="1051560" y="459943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LanceDB + BM25 (896 vectores)</a:t>
            </a:r>
            <a:endParaRPr lang="en-US" sz="1300" dirty="0"/>
          </a:p>
        </p:txBody>
      </p:sp>
      <p:sp>
        <p:nvSpPr>
          <p:cNvPr id="14" name="Text 12"/>
          <p:cNvSpPr txBox="1"/>
          <p:nvPr/>
        </p:nvSpPr>
        <p:spPr>
          <a:xfrm>
            <a:off x="1051560" y="489204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Vector store embebido + índice de palabra clave, fusionados con RRF</a:t>
            </a:r>
            <a:endParaRPr lang="en-US" sz="1050" dirty="0"/>
          </a:p>
        </p:txBody>
      </p:sp>
      <p:sp>
        <p:nvSpPr>
          <p:cNvPr id="15" name="Text 13"/>
          <p:cNvSpPr txBox="1"/>
          <p:nvPr/>
        </p:nvSpPr>
        <p:spPr>
          <a:xfrm>
            <a:off x="5715000" y="3017520"/>
            <a:ext cx="1234440" cy="1463040"/>
          </a:xfrm>
          <a:prstGeom prst="rect">
            <a:avLst/>
          </a:prstGeom>
          <a:noFill/>
          <a:ln/>
        </p:spPr>
        <p:txBody>
          <a:bodyPr wrap="square" lIns="0" tIns="0" rIns="0" bIns="0" rtlCol="0" anchor="ctr"/>
          <a:lstStyle/>
          <a:p>
            <a:pPr algn="ctr" indent="0" marL="0">
              <a:buNone/>
            </a:pPr>
            <a:r>
              <a:rPr lang="en-US" sz="1100" i="1" dirty="0">
                <a:solidFill>
                  <a:srgbClr val="67728F"/>
                </a:solidFill>
                <a:latin typeface="Calibri" pitchFamily="34" charset="0"/>
                <a:ea typeface="Calibri" pitchFamily="34" charset="-122"/>
                <a:cs typeface="Calibri" pitchFamily="34" charset="-120"/>
              </a:rPr>
              <a:t>túnel SSH</a:t>
            </a:r>
            <a:endParaRPr lang="en-US" sz="1100" dirty="0"/>
          </a:p>
          <a:p>
            <a:pPr algn="ctr" indent="0" marL="0">
              <a:buNone/>
            </a:pPr>
            <a:r>
              <a:rPr lang="en-US" sz="1100" i="1" dirty="0">
                <a:solidFill>
                  <a:srgbClr val="67728F"/>
                </a:solidFill>
                <a:latin typeface="Calibri" pitchFamily="34" charset="0"/>
                <a:ea typeface="Calibri" pitchFamily="34" charset="-122"/>
                <a:cs typeface="Calibri" pitchFamily="34" charset="-120"/>
              </a:rPr>
              <a:t>inverso ×2</a:t>
            </a:r>
            <a:endParaRPr lang="en-US" sz="1100" dirty="0"/>
          </a:p>
        </p:txBody>
      </p:sp>
      <p:sp>
        <p:nvSpPr>
          <p:cNvPr id="16" name="Shape 14"/>
          <p:cNvSpPr/>
          <p:nvPr/>
        </p:nvSpPr>
        <p:spPr>
          <a:xfrm flipH="1">
            <a:off x="5623560" y="3429000"/>
            <a:ext cx="1325880" cy="320040"/>
          </a:xfrm>
          <a:prstGeom prst="rightArrow">
            <a:avLst/>
          </a:prstGeom>
          <a:solidFill>
            <a:srgbClr val="3CBDC7"/>
          </a:solidFill>
          <a:ln/>
        </p:spPr>
      </p:sp>
      <p:sp>
        <p:nvSpPr>
          <p:cNvPr id="17" name="Shape 15"/>
          <p:cNvSpPr/>
          <p:nvPr/>
        </p:nvSpPr>
        <p:spPr>
          <a:xfrm>
            <a:off x="5623560" y="3977640"/>
            <a:ext cx="1325880" cy="320040"/>
          </a:xfrm>
          <a:prstGeom prst="rightArrow">
            <a:avLst/>
          </a:prstGeom>
          <a:solidFill>
            <a:srgbClr val="3CBDC7"/>
          </a:solidFill>
          <a:ln/>
        </p:spPr>
      </p:sp>
      <p:sp>
        <p:nvSpPr>
          <p:cNvPr id="18" name="Shape 16"/>
          <p:cNvSpPr/>
          <p:nvPr/>
        </p:nvSpPr>
        <p:spPr>
          <a:xfrm>
            <a:off x="7040880" y="1737360"/>
            <a:ext cx="4526280" cy="3931920"/>
          </a:xfrm>
          <a:prstGeom prst="roundRect">
            <a:avLst>
              <a:gd name="adj" fmla="val 2326"/>
            </a:avLst>
          </a:prstGeom>
          <a:solidFill>
            <a:srgbClr val="121526"/>
          </a:solidFill>
          <a:ln/>
        </p:spPr>
      </p:sp>
      <p:sp>
        <p:nvSpPr>
          <p:cNvPr id="19" name="Text 17"/>
          <p:cNvSpPr txBox="1"/>
          <p:nvPr/>
        </p:nvSpPr>
        <p:spPr>
          <a:xfrm>
            <a:off x="7223760" y="187452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HPC CEDIA (bajo demanda)</a:t>
            </a:r>
            <a:endParaRPr lang="en-US" sz="1600" dirty="0"/>
          </a:p>
        </p:txBody>
      </p:sp>
      <p:sp>
        <p:nvSpPr>
          <p:cNvPr id="20" name="Shape 18"/>
          <p:cNvSpPr/>
          <p:nvPr/>
        </p:nvSpPr>
        <p:spPr>
          <a:xfrm>
            <a:off x="7269480" y="2423160"/>
            <a:ext cx="4069080" cy="960120"/>
          </a:xfrm>
          <a:prstGeom prst="roundRect">
            <a:avLst>
              <a:gd name="adj" fmla="val 5714"/>
            </a:avLst>
          </a:prstGeom>
          <a:solidFill>
            <a:srgbClr val="242A44"/>
          </a:solidFill>
          <a:ln/>
        </p:spPr>
      </p:sp>
      <p:sp>
        <p:nvSpPr>
          <p:cNvPr id="21" name="Text 19"/>
          <p:cNvSpPr txBox="1"/>
          <p:nvPr/>
        </p:nvSpPr>
        <p:spPr>
          <a:xfrm>
            <a:off x="7452360" y="251460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vLLM · Qwen2.5-7B-Instruct</a:t>
            </a:r>
            <a:endParaRPr lang="en-US" sz="1300" dirty="0"/>
          </a:p>
        </p:txBody>
      </p:sp>
      <p:sp>
        <p:nvSpPr>
          <p:cNvPr id="22" name="Text 20"/>
          <p:cNvSpPr txBox="1"/>
          <p:nvPr/>
        </p:nvSpPr>
        <p:spPr>
          <a:xfrm>
            <a:off x="7452360" y="283464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vLLM (motor de inferencia de código abierto) en GPU NVIDIA A100 40GB — genera los veredictos</a:t>
            </a:r>
            <a:endParaRPr lang="en-US" sz="1050" dirty="0"/>
          </a:p>
        </p:txBody>
      </p:sp>
      <p:sp>
        <p:nvSpPr>
          <p:cNvPr id="23" name="Shape 21"/>
          <p:cNvSpPr/>
          <p:nvPr/>
        </p:nvSpPr>
        <p:spPr>
          <a:xfrm>
            <a:off x="7269480" y="3611880"/>
            <a:ext cx="4069080" cy="960120"/>
          </a:xfrm>
          <a:prstGeom prst="roundRect">
            <a:avLst>
              <a:gd name="adj" fmla="val 5714"/>
            </a:avLst>
          </a:prstGeom>
          <a:solidFill>
            <a:srgbClr val="242A44"/>
          </a:solidFill>
          <a:ln/>
        </p:spPr>
      </p:sp>
      <p:sp>
        <p:nvSpPr>
          <p:cNvPr id="24" name="Text 22"/>
          <p:cNvSpPr txBox="1"/>
          <p:nvPr/>
        </p:nvSpPr>
        <p:spPr>
          <a:xfrm>
            <a:off x="7452360" y="370332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TEI · multilingual-e5-large</a:t>
            </a:r>
            <a:endParaRPr lang="en-US" sz="1300" dirty="0"/>
          </a:p>
        </p:txBody>
      </p:sp>
      <p:sp>
        <p:nvSpPr>
          <p:cNvPr id="25" name="Text 23"/>
          <p:cNvSpPr txBox="1"/>
          <p:nvPr/>
        </p:nvSpPr>
        <p:spPr>
          <a:xfrm>
            <a:off x="7452360" y="402336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TEI, servidor de embeddings, en CPU — calcula consulta y corpus</a:t>
            </a:r>
            <a:endParaRPr lang="en-US" sz="1050" dirty="0"/>
          </a:p>
        </p:txBody>
      </p:sp>
      <p:sp>
        <p:nvSpPr>
          <p:cNvPr id="26" name="Text 24"/>
          <p:cNvSpPr txBox="1"/>
          <p:nvPr/>
        </p:nvSpPr>
        <p:spPr>
          <a:xfrm>
            <a:off x="7269480" y="4892040"/>
            <a:ext cx="4114800" cy="685800"/>
          </a:xfrm>
          <a:prstGeom prst="rect">
            <a:avLst/>
          </a:prstGeom>
          <a:noFill/>
          <a:ln/>
        </p:spPr>
        <p:txBody>
          <a:bodyPr wrap="square" lIns="0" tIns="0" rIns="0" bIns="0" rtlCol="0" anchor="ctr"/>
          <a:lstStyle/>
          <a:p>
            <a:pPr indent="0" marL="0">
              <a:buNone/>
            </a:pPr>
            <a:r>
              <a:rPr lang="en-US" sz="1000" i="1" dirty="0">
                <a:solidFill>
                  <a:srgbClr val="3CBDC7"/>
                </a:solidFill>
                <a:latin typeface="Calibri" pitchFamily="34" charset="0"/>
                <a:ea typeface="Calibri" pitchFamily="34" charset="-122"/>
                <a:cs typeface="Calibri" pitchFamily="34" charset="-120"/>
              </a:rPr>
              <a:t>1 sola reserva Slurm compartida (límite de la cuenta: 1 job concurrente) — se libera al terminar, costo GPU = 0 el resto del tiempo</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Los datos: corpus real de normativa de la UTE</a:t>
            </a:r>
            <a:endParaRPr lang="en-US" sz="3000" dirty="0"/>
          </a:p>
        </p:txBody>
      </p:sp>
      <p:sp>
        <p:nvSpPr>
          <p:cNvPr id="3" name="Text 1"/>
          <p:cNvSpPr txBox="1"/>
          <p:nvPr/>
        </p:nvSpPr>
        <p:spPr>
          <a:xfrm>
            <a:off x="640080" y="173736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10</a:t>
            </a:r>
            <a:endParaRPr lang="en-US" sz="4800" dirty="0"/>
          </a:p>
        </p:txBody>
      </p:sp>
      <p:sp>
        <p:nvSpPr>
          <p:cNvPr id="4" name="Text 2"/>
          <p:cNvSpPr txBox="1"/>
          <p:nvPr/>
        </p:nvSpPr>
        <p:spPr>
          <a:xfrm>
            <a:off x="640080"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reglamentos reales de la UTE</a:t>
            </a:r>
            <a:endParaRPr lang="en-US" sz="1200" dirty="0"/>
          </a:p>
        </p:txBody>
      </p:sp>
      <p:sp>
        <p:nvSpPr>
          <p:cNvPr id="5" name="Text 3"/>
          <p:cNvSpPr txBox="1"/>
          <p:nvPr/>
        </p:nvSpPr>
        <p:spPr>
          <a:xfrm>
            <a:off x="3438144" y="173736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~311</a:t>
            </a:r>
            <a:endParaRPr lang="en-US" sz="4800" dirty="0"/>
          </a:p>
        </p:txBody>
      </p:sp>
      <p:sp>
        <p:nvSpPr>
          <p:cNvPr id="6" name="Text 4"/>
          <p:cNvSpPr txBox="1"/>
          <p:nvPr/>
        </p:nvSpPr>
        <p:spPr>
          <a:xfrm>
            <a:off x="3438144"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páginas procesadas</a:t>
            </a:r>
            <a:endParaRPr lang="en-US" sz="1200" dirty="0"/>
          </a:p>
        </p:txBody>
      </p:sp>
      <p:sp>
        <p:nvSpPr>
          <p:cNvPr id="7" name="Text 5"/>
          <p:cNvSpPr txBox="1"/>
          <p:nvPr/>
        </p:nvSpPr>
        <p:spPr>
          <a:xfrm>
            <a:off x="6236208" y="173736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896</a:t>
            </a:r>
            <a:endParaRPr lang="en-US" sz="4800" dirty="0"/>
          </a:p>
        </p:txBody>
      </p:sp>
      <p:sp>
        <p:nvSpPr>
          <p:cNvPr id="8" name="Text 6"/>
          <p:cNvSpPr txBox="1"/>
          <p:nvPr/>
        </p:nvSpPr>
        <p:spPr>
          <a:xfrm>
            <a:off x="6236208"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fragmentos (chunks) indexados</a:t>
            </a:r>
            <a:endParaRPr lang="en-US" sz="1200" dirty="0"/>
          </a:p>
        </p:txBody>
      </p:sp>
      <p:sp>
        <p:nvSpPr>
          <p:cNvPr id="9" name="Text 7"/>
          <p:cNvSpPr txBox="1"/>
          <p:nvPr/>
        </p:nvSpPr>
        <p:spPr>
          <a:xfrm>
            <a:off x="9034272" y="173736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15</a:t>
            </a:r>
            <a:endParaRPr lang="en-US" sz="4800" dirty="0"/>
          </a:p>
        </p:txBody>
      </p:sp>
      <p:sp>
        <p:nvSpPr>
          <p:cNvPr id="10" name="Text 8"/>
          <p:cNvSpPr txBox="1"/>
          <p:nvPr/>
        </p:nvSpPr>
        <p:spPr>
          <a:xfrm>
            <a:off x="9034272"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preguntas reales de evaluación</a:t>
            </a:r>
            <a:endParaRPr lang="en-US" sz="1200" dirty="0"/>
          </a:p>
        </p:txBody>
      </p:sp>
      <p:sp>
        <p:nvSpPr>
          <p:cNvPr id="11" name="Shape 9"/>
          <p:cNvSpPr/>
          <p:nvPr/>
        </p:nvSpPr>
        <p:spPr>
          <a:xfrm>
            <a:off x="640080"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474720"/>
            <a:ext cx="384048" cy="384048"/>
          </a:xfrm>
          <a:prstGeom prst="ellipse">
            <a:avLst/>
          </a:prstGeom>
          <a:solidFill>
            <a:srgbClr val="1AA3AF"/>
          </a:solidFill>
          <a:ln/>
        </p:spPr>
      </p:sp>
      <p:sp>
        <p:nvSpPr>
          <p:cNvPr id="13" name="Text 11"/>
          <p:cNvSpPr txBox="1"/>
          <p:nvPr/>
        </p:nvSpPr>
        <p:spPr>
          <a:xfrm>
            <a:off x="1371600"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Preprocesamiento</a:t>
            </a:r>
            <a:endParaRPr lang="en-US" sz="1500" dirty="0"/>
          </a:p>
        </p:txBody>
      </p:sp>
      <p:sp>
        <p:nvSpPr>
          <p:cNvPr id="14" name="Text 12"/>
          <p:cNvSpPr txBox="1"/>
          <p:nvPr/>
        </p:nvSpPr>
        <p:spPr>
          <a:xfrm>
            <a:off x="914400"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pdftotext -layout + segmentación por patrón de artículo ("Artículo 67.") con respaldo por párrafo. Cada chunk conserva documento y número de artículo de origen.</a:t>
            </a:r>
            <a:endParaRPr lang="en-US" sz="1200" dirty="0"/>
          </a:p>
        </p:txBody>
      </p:sp>
      <p:sp>
        <p:nvSpPr>
          <p:cNvPr id="15" name="Shape 13"/>
          <p:cNvSpPr/>
          <p:nvPr/>
        </p:nvSpPr>
        <p:spPr>
          <a:xfrm>
            <a:off x="6254496"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6483096" y="3474720"/>
            <a:ext cx="384048" cy="384048"/>
          </a:xfrm>
          <a:prstGeom prst="ellipse">
            <a:avLst/>
          </a:prstGeom>
          <a:solidFill>
            <a:srgbClr val="414C74"/>
          </a:solidFill>
          <a:ln/>
        </p:spPr>
      </p:sp>
      <p:sp>
        <p:nvSpPr>
          <p:cNvPr id="17" name="Text 15"/>
          <p:cNvSpPr txBox="1"/>
          <p:nvPr/>
        </p:nvSpPr>
        <p:spPr>
          <a:xfrm>
            <a:off x="6986016"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Gap conocido (documentado)</a:t>
            </a:r>
            <a:endParaRPr lang="en-US" sz="1500" dirty="0"/>
          </a:p>
        </p:txBody>
      </p:sp>
      <p:sp>
        <p:nvSpPr>
          <p:cNvPr id="18" name="Text 16"/>
          <p:cNvSpPr txBox="1"/>
          <p:nvPr/>
        </p:nvSpPr>
        <p:spPr>
          <a:xfrm>
            <a:off x="6528816"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2 de los 10 PDF son escaneados sin capa de texto (0 chunks). No afecta sílabos de pregrado; incorporarlos requiere OCR (reconocimiento óptico de caracteres) — próximo paso.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modelo: dos puertos de IA + recuperación híbrida (vector + palabra clave)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2194560"/>
        </p:xfrm>
        <a:graphic>
          <a:graphicData uri="http://schemas.openxmlformats.org/drawingml/2006/table">
            <a:tbl>
              <a:tblPr/>
              <a:tblGrid>
                <a:gridCol w="2560320"/>
                <a:gridCol w="5029200"/>
                <a:gridCol w="329184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Componente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Modelo / tecnología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Dónde corre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Embeddings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intfloat/multilingual-e5-large (560M)</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TEI (CPU)</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Generación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Qwen/Qwen2.5-7B-Instruct</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vLLM (GPU A100)</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Recuperación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LanceDB (vector) + BM25 (palabra clave), fusión RRF</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VPS de producción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Shape 1"/>
          <p:cNvSpPr/>
          <p:nvPr/>
        </p:nvSpPr>
        <p:spPr>
          <a:xfrm>
            <a:off x="640080"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5" name="Shape 2"/>
          <p:cNvSpPr/>
          <p:nvPr/>
        </p:nvSpPr>
        <p:spPr>
          <a:xfrm>
            <a:off x="868680" y="4206240"/>
            <a:ext cx="384048" cy="384048"/>
          </a:xfrm>
          <a:prstGeom prst="ellipse">
            <a:avLst/>
          </a:prstGeom>
          <a:solidFill>
            <a:srgbClr val="11838D"/>
          </a:solidFill>
          <a:ln/>
        </p:spPr>
      </p:sp>
      <p:sp>
        <p:nvSpPr>
          <p:cNvPr id="6" name="Text 3"/>
          <p:cNvSpPr txBox="1"/>
          <p:nvPr/>
        </p:nvSpPr>
        <p:spPr>
          <a:xfrm>
            <a:off x="1371600"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LanceDB + BM25?</a:t>
            </a:r>
            <a:endParaRPr lang="en-US" sz="1500" dirty="0"/>
          </a:p>
        </p:txBody>
      </p:sp>
      <p:sp>
        <p:nvSpPr>
          <p:cNvPr id="7" name="Text 4"/>
          <p:cNvSpPr txBox="1"/>
          <p:nvPr/>
        </p:nvSpPr>
        <p:spPr>
          <a:xfrm>
            <a:off x="914400"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volumen no exige un vector store dedicado, pero se eligió uno (embebido, más liviano que Chroma) para demostrar el componente de IA. BM25 se sumó para no perder un artículo que comparte una palabra exacta con la consulta pero que el embedding no ubica entre los más similares.</a:t>
            </a:r>
            <a:endParaRPr lang="en-US" sz="1200" dirty="0"/>
          </a:p>
        </p:txBody>
      </p:sp>
      <p:sp>
        <p:nvSpPr>
          <p:cNvPr id="8" name="Shape 5"/>
          <p:cNvSpPr/>
          <p:nvPr/>
        </p:nvSpPr>
        <p:spPr>
          <a:xfrm>
            <a:off x="6254496"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9" name="Shape 6"/>
          <p:cNvSpPr/>
          <p:nvPr/>
        </p:nvSpPr>
        <p:spPr>
          <a:xfrm>
            <a:off x="6483096" y="4206240"/>
            <a:ext cx="384048" cy="384048"/>
          </a:xfrm>
          <a:prstGeom prst="ellipse">
            <a:avLst/>
          </a:prstGeom>
          <a:solidFill>
            <a:srgbClr val="1AA3AF"/>
          </a:solidFill>
          <a:ln/>
        </p:spPr>
      </p:sp>
      <p:sp>
        <p:nvSpPr>
          <p:cNvPr id="10" name="Text 7"/>
          <p:cNvSpPr txBox="1"/>
          <p:nvPr/>
        </p:nvSpPr>
        <p:spPr>
          <a:xfrm>
            <a:off x="6986016"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Comparación con baseline</a:t>
            </a:r>
            <a:endParaRPr lang="en-US" sz="1500" dirty="0"/>
          </a:p>
        </p:txBody>
      </p:sp>
      <p:sp>
        <p:nvSpPr>
          <p:cNvPr id="11" name="Text 8"/>
          <p:cNvSpPr txBox="1"/>
          <p:nvPr/>
        </p:nvSpPr>
        <p:spPr>
          <a:xfrm>
            <a:off x="6528816"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RunEvaluationUseCase corre cada pregunta con y sin RAG, y califica si la respuesta cita el artículo esperado — así se mide el aporte real de la recuperación.</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Resultados: calidad técnica verificada y un bug real encontrado y corregido</a:t>
            </a:r>
            <a:endParaRPr lang="en-US" sz="3000" dirty="0"/>
          </a:p>
        </p:txBody>
      </p:sp>
      <p:sp>
        <p:nvSpPr>
          <p:cNvPr id="3" name="Text 1"/>
          <p:cNvSpPr txBox="1"/>
          <p:nvPr/>
        </p:nvSpPr>
        <p:spPr>
          <a:xfrm>
            <a:off x="640080" y="160020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118</a:t>
            </a:r>
            <a:endParaRPr lang="en-US" sz="4800" dirty="0"/>
          </a:p>
        </p:txBody>
      </p:sp>
      <p:sp>
        <p:nvSpPr>
          <p:cNvPr id="4" name="Text 2"/>
          <p:cNvSpPr txBox="1"/>
          <p:nvPr/>
        </p:nvSpPr>
        <p:spPr>
          <a:xfrm>
            <a:off x="640080"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backend (pytest)</a:t>
            </a:r>
            <a:endParaRPr lang="en-US" sz="1200" dirty="0"/>
          </a:p>
        </p:txBody>
      </p:sp>
      <p:sp>
        <p:nvSpPr>
          <p:cNvPr id="5" name="Text 3"/>
          <p:cNvSpPr txBox="1"/>
          <p:nvPr/>
        </p:nvSpPr>
        <p:spPr>
          <a:xfrm>
            <a:off x="3438144" y="160020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19</a:t>
            </a:r>
            <a:endParaRPr lang="en-US" sz="4800" dirty="0"/>
          </a:p>
        </p:txBody>
      </p:sp>
      <p:sp>
        <p:nvSpPr>
          <p:cNvPr id="6" name="Text 4"/>
          <p:cNvSpPr txBox="1"/>
          <p:nvPr/>
        </p:nvSpPr>
        <p:spPr>
          <a:xfrm>
            <a:off x="3438144"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frontend (vitest)</a:t>
            </a:r>
            <a:endParaRPr lang="en-US" sz="1200" dirty="0"/>
          </a:p>
        </p:txBody>
      </p:sp>
      <p:sp>
        <p:nvSpPr>
          <p:cNvPr id="7" name="Text 5"/>
          <p:cNvSpPr txBox="1"/>
          <p:nvPr/>
        </p:nvSpPr>
        <p:spPr>
          <a:xfrm>
            <a:off x="6236208" y="160020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372</a:t>
            </a:r>
            <a:endParaRPr lang="en-US" sz="4800" dirty="0"/>
          </a:p>
        </p:txBody>
      </p:sp>
      <p:sp>
        <p:nvSpPr>
          <p:cNvPr id="8" name="Text 6"/>
          <p:cNvSpPr txBox="1"/>
          <p:nvPr/>
        </p:nvSpPr>
        <p:spPr>
          <a:xfrm>
            <a:off x="6236208"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claves i18n, 4 idiomas</a:t>
            </a:r>
            <a:endParaRPr lang="en-US" sz="1200" dirty="0"/>
          </a:p>
        </p:txBody>
      </p:sp>
      <p:sp>
        <p:nvSpPr>
          <p:cNvPr id="9" name="Text 7"/>
          <p:cNvSpPr txBox="1"/>
          <p:nvPr/>
        </p:nvSpPr>
        <p:spPr>
          <a:xfrm>
            <a:off x="9034272" y="160020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9034272"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llamadas de red reales en tests</a:t>
            </a:r>
            <a:endParaRPr lang="en-US" sz="1200" dirty="0"/>
          </a:p>
        </p:txBody>
      </p:sp>
      <p:sp>
        <p:nvSpPr>
          <p:cNvPr id="11" name="Shape 9"/>
          <p:cNvSpPr/>
          <p:nvPr/>
        </p:nvSpPr>
        <p:spPr>
          <a:xfrm>
            <a:off x="640080" y="3154680"/>
            <a:ext cx="10835640" cy="1417320"/>
          </a:xfrm>
          <a:prstGeom prst="roundRect">
            <a:avLst>
              <a:gd name="adj" fmla="val 5161"/>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383280"/>
            <a:ext cx="384048" cy="384048"/>
          </a:xfrm>
          <a:prstGeom prst="ellipse">
            <a:avLst/>
          </a:prstGeom>
          <a:solidFill>
            <a:srgbClr val="414C74"/>
          </a:solidFill>
          <a:ln/>
        </p:spPr>
      </p:sp>
      <p:sp>
        <p:nvSpPr>
          <p:cNvPr id="13" name="Text 11"/>
          <p:cNvSpPr txBox="1"/>
          <p:nvPr/>
        </p:nvSpPr>
        <p:spPr>
          <a:xfrm>
            <a:off x="1371600" y="3355848"/>
            <a:ext cx="992124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Hallazgo real: prefijos E5 (query: / passage:)</a:t>
            </a:r>
            <a:endParaRPr lang="en-US" sz="1500" dirty="0"/>
          </a:p>
        </p:txBody>
      </p:sp>
      <p:sp>
        <p:nvSpPr>
          <p:cNvPr id="14" name="Text 12"/>
          <p:cNvSpPr txBox="1"/>
          <p:nvPr/>
        </p:nvSpPr>
        <p:spPr>
          <a:xfrm>
            <a:off x="914400" y="3904488"/>
            <a:ext cx="10287000" cy="5029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La recuperación citaba siempre el mismo documento sin relación con la pregunta. Causa: faltaba la convención de prefijos de E5 para distinguir consulta de contenido indexado — corregido (commit 862a8ae). Evidencia de que el equipo entiende la técnica de embeddings, no solo la invoca.</a:t>
            </a:r>
            <a:endParaRPr lang="en-US" sz="1200" dirty="0"/>
          </a:p>
        </p:txBody>
      </p:sp>
      <p:sp>
        <p:nvSpPr>
          <p:cNvPr id="15" name="Shape 13"/>
          <p:cNvSpPr/>
          <p:nvPr/>
        </p:nvSpPr>
        <p:spPr>
          <a:xfrm>
            <a:off x="640080" y="4754880"/>
            <a:ext cx="10835640" cy="1417320"/>
          </a:xfrm>
          <a:prstGeom prst="roundRect">
            <a:avLst>
              <a:gd name="adj" fmla="val 5161"/>
            </a:avLst>
          </a:prstGeom>
          <a:solidFill>
            <a:srgbClr val="121526"/>
          </a:solidFill>
          <a:ln/>
        </p:spPr>
      </p:sp>
      <p:sp>
        <p:nvSpPr>
          <p:cNvPr id="16" name="Text 14"/>
          <p:cNvSpPr txBox="1"/>
          <p:nvPr/>
        </p:nvSpPr>
        <p:spPr>
          <a:xfrm>
            <a:off x="868680" y="4892040"/>
            <a:ext cx="548640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Aciertos RAG vs. baseline (15 preguntas)</a:t>
            </a:r>
            <a:endParaRPr lang="en-US" sz="1400" dirty="0"/>
          </a:p>
        </p:txBody>
      </p:sp>
      <p:sp>
        <p:nvSpPr>
          <p:cNvPr id="17" name="Text 15"/>
          <p:cNvSpPr txBox="1"/>
          <p:nvPr/>
        </p:nvSpPr>
        <p:spPr>
          <a:xfrm>
            <a:off x="868680" y="5285232"/>
            <a:ext cx="9966960" cy="685800"/>
          </a:xfrm>
          <a:prstGeom prst="rect">
            <a:avLst/>
          </a:prstGeom>
          <a:noFill/>
          <a:ln/>
        </p:spPr>
        <p:txBody>
          <a:bodyPr wrap="square" lIns="0" tIns="0" rIns="0" bIns="0" rtlCol="0" anchor="ctr"/>
          <a:lstStyle/>
          <a:p>
            <a:pPr indent="0" marL="0">
              <a:buNone/>
            </a:pPr>
            <a:r>
              <a:rPr lang="en-US" sz="1300" b="1" i="1" dirty="0">
                <a:solidFill>
                  <a:srgbClr val="3CBDC7"/>
                </a:solidFill>
                <a:latin typeface="Calibri" pitchFamily="34" charset="0"/>
                <a:ea typeface="Calibri" pitchFamily="34" charset="-122"/>
                <a:cs typeface="Calibri" pitchFamily="34" charset="-120"/>
              </a:rPr>
              <a:t>Pendiente — corrida final en producción con embeddings reales (HPC) recalculados tras el fix de prefijos</a:t>
            </a:r>
            <a:endParaRPr lang="en-US" sz="13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DEMO EN VIVO</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Validación de un sílabo real, de principio a fin</a:t>
            </a:r>
            <a:endParaRPr lang="en-US" sz="1800" dirty="0"/>
          </a:p>
        </p:txBody>
      </p:sp>
      <p:sp>
        <p:nvSpPr>
          <p:cNvPr id="4" name="Shape 2"/>
          <p:cNvSpPr/>
          <p:nvPr/>
        </p:nvSpPr>
        <p:spPr>
          <a:xfrm>
            <a:off x="822960" y="4343400"/>
            <a:ext cx="274320" cy="274320"/>
          </a:xfrm>
          <a:prstGeom prst="ellipse">
            <a:avLst/>
          </a:prstGeom>
          <a:solidFill>
            <a:srgbClr val="1AA3AF"/>
          </a:solidFill>
          <a:ln/>
        </p:spPr>
      </p:sp>
      <p:sp>
        <p:nvSpPr>
          <p:cNvPr id="5" name="Text 3"/>
          <p:cNvSpPr txBox="1"/>
          <p:nvPr/>
        </p:nvSpPr>
        <p:spPr>
          <a:xfrm>
            <a:off x="822960" y="4343400"/>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234440" y="4325112"/>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Login en la plataforma en producción</a:t>
            </a:r>
            <a:endParaRPr lang="en-US" sz="1300" dirty="0"/>
          </a:p>
        </p:txBody>
      </p:sp>
      <p:sp>
        <p:nvSpPr>
          <p:cNvPr id="7" name="Shape 5"/>
          <p:cNvSpPr/>
          <p:nvPr/>
        </p:nvSpPr>
        <p:spPr>
          <a:xfrm>
            <a:off x="822960" y="4727448"/>
            <a:ext cx="274320" cy="274320"/>
          </a:xfrm>
          <a:prstGeom prst="ellipse">
            <a:avLst/>
          </a:prstGeom>
          <a:solidFill>
            <a:srgbClr val="1AA3AF"/>
          </a:solidFill>
          <a:ln/>
        </p:spPr>
      </p:sp>
      <p:sp>
        <p:nvSpPr>
          <p:cNvPr id="8" name="Text 6"/>
          <p:cNvSpPr txBox="1"/>
          <p:nvPr/>
        </p:nvSpPr>
        <p:spPr>
          <a:xfrm>
            <a:off x="822960" y="4727448"/>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234440" y="4709160"/>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Menú "Validación RAG" → Validación de sílabos</a:t>
            </a:r>
            <a:endParaRPr lang="en-US" sz="1300" dirty="0"/>
          </a:p>
        </p:txBody>
      </p:sp>
      <p:sp>
        <p:nvSpPr>
          <p:cNvPr id="10" name="Shape 8"/>
          <p:cNvSpPr/>
          <p:nvPr/>
        </p:nvSpPr>
        <p:spPr>
          <a:xfrm>
            <a:off x="822960" y="5111496"/>
            <a:ext cx="274320" cy="274320"/>
          </a:xfrm>
          <a:prstGeom prst="ellipse">
            <a:avLst/>
          </a:prstGeom>
          <a:solidFill>
            <a:srgbClr val="1AA3AF"/>
          </a:solidFill>
          <a:ln/>
        </p:spPr>
      </p:sp>
      <p:sp>
        <p:nvSpPr>
          <p:cNvPr id="11" name="Text 9"/>
          <p:cNvSpPr txBox="1"/>
          <p:nvPr/>
        </p:nvSpPr>
        <p:spPr>
          <a:xfrm>
            <a:off x="822960" y="5111496"/>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234440" y="5093208"/>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Pegar texto o subir el .docx del docente</a:t>
            </a:r>
            <a:endParaRPr lang="en-US" sz="1300" dirty="0"/>
          </a:p>
        </p:txBody>
      </p:sp>
      <p:sp>
        <p:nvSpPr>
          <p:cNvPr id="13" name="Shape 11"/>
          <p:cNvSpPr/>
          <p:nvPr/>
        </p:nvSpPr>
        <p:spPr>
          <a:xfrm>
            <a:off x="822960" y="5495544"/>
            <a:ext cx="274320" cy="274320"/>
          </a:xfrm>
          <a:prstGeom prst="ellipse">
            <a:avLst/>
          </a:prstGeom>
          <a:solidFill>
            <a:srgbClr val="1AA3AF"/>
          </a:solidFill>
          <a:ln/>
        </p:spPr>
      </p:sp>
      <p:sp>
        <p:nvSpPr>
          <p:cNvPr id="14" name="Text 12"/>
          <p:cNvSpPr txBox="1"/>
          <p:nvPr/>
        </p:nvSpPr>
        <p:spPr>
          <a:xfrm>
            <a:off x="822960" y="5495544"/>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234440" y="5477256"/>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5 veredictos con cita de artículo y documento</a:t>
            </a:r>
            <a:endParaRPr lang="en-US" sz="1300" dirty="0"/>
          </a:p>
        </p:txBody>
      </p:sp>
      <p:sp>
        <p:nvSpPr>
          <p:cNvPr id="16" name="Shape 14"/>
          <p:cNvSpPr/>
          <p:nvPr/>
        </p:nvSpPr>
        <p:spPr>
          <a:xfrm>
            <a:off x="822960" y="5879592"/>
            <a:ext cx="274320" cy="274320"/>
          </a:xfrm>
          <a:prstGeom prst="ellipse">
            <a:avLst/>
          </a:prstGeom>
          <a:solidFill>
            <a:srgbClr val="1AA3AF"/>
          </a:solidFill>
          <a:ln/>
        </p:spPr>
      </p:sp>
      <p:sp>
        <p:nvSpPr>
          <p:cNvPr id="17" name="Text 15"/>
          <p:cNvSpPr txBox="1"/>
          <p:nvPr/>
        </p:nvSpPr>
        <p:spPr>
          <a:xfrm>
            <a:off x="822960" y="5879592"/>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1234440" y="5861304"/>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Pantalla "Evaluación": baseline vs. RAG en vivo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Impacto esperado y limitaciones actuales</a:t>
            </a:r>
            <a:endParaRPr lang="en-US" sz="3000" dirty="0"/>
          </a:p>
        </p:txBody>
      </p:sp>
      <p:sp>
        <p:nvSpPr>
          <p:cNvPr id="3" name="Shape 1"/>
          <p:cNvSpPr/>
          <p:nvPr/>
        </p:nvSpPr>
        <p:spPr>
          <a:xfrm>
            <a:off x="640080"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Beneficio esperado</a:t>
            </a:r>
            <a:endParaRPr lang="en-US" sz="1500" dirty="0"/>
          </a:p>
        </p:txBody>
      </p:sp>
      <p:sp>
        <p:nvSpPr>
          <p:cNvPr id="6" name="Text 4"/>
          <p:cNvSpPr txBox="1"/>
          <p:nvPr/>
        </p:nvSpPr>
        <p:spPr>
          <a:xfrm>
            <a:off x="914400"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De minutos/horas a segundos por sílabo.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Trazabilidad exacta (artículo + documento) en cada observación.</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Base técnica reutilizable para evaluar otros documentos institucionales.</a:t>
            </a:r>
            <a:endParaRPr lang="en-US" sz="1200" dirty="0"/>
          </a:p>
        </p:txBody>
      </p:sp>
      <p:sp>
        <p:nvSpPr>
          <p:cNvPr id="7" name="Shape 5"/>
          <p:cNvSpPr/>
          <p:nvPr/>
        </p:nvSpPr>
        <p:spPr>
          <a:xfrm>
            <a:off x="6254496"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6483096" y="1874520"/>
            <a:ext cx="384048" cy="384048"/>
          </a:xfrm>
          <a:prstGeom prst="ellipse">
            <a:avLst/>
          </a:prstGeom>
          <a:solidFill>
            <a:srgbClr val="414C74"/>
          </a:solidFill>
          <a:ln/>
        </p:spPr>
      </p:sp>
      <p:sp>
        <p:nvSpPr>
          <p:cNvPr id="9" name="Text 7"/>
          <p:cNvSpPr txBox="1"/>
          <p:nvPr/>
        </p:nvSpPr>
        <p:spPr>
          <a:xfrm>
            <a:off x="698601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Limitaciones actuales</a:t>
            </a:r>
            <a:endParaRPr lang="en-US" sz="1500" dirty="0"/>
          </a:p>
        </p:txBody>
      </p:sp>
      <p:sp>
        <p:nvSpPr>
          <p:cNvPr id="10" name="Text 8"/>
          <p:cNvSpPr txBox="1"/>
          <p:nvPr/>
        </p:nvSpPr>
        <p:spPr>
          <a:xfrm>
            <a:off x="6528816"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2/10 documentos escaneados sin OCR (sin impacto en pregrado).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Cifra de aciertos RAG real pendiente de la corrida final en producción.</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"NO_DETERMINADO" existe a propósito: el sistema no inventa cumplimiento.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Con 1-3 meses adicionales</a:t>
            </a:r>
            <a:endParaRPr lang="en-US" sz="3000" dirty="0"/>
          </a:p>
        </p:txBody>
      </p:sp>
      <p:sp>
        <p:nvSpPr>
          <p:cNvPr id="3" name="Shape 1"/>
          <p:cNvSpPr/>
          <p:nvPr/>
        </p:nvSpPr>
        <p:spPr>
          <a:xfrm>
            <a:off x="640080"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01 · OCR del corpus</a:t>
            </a:r>
            <a:endParaRPr lang="en-US" sz="1500" dirty="0"/>
          </a:p>
        </p:txBody>
      </p:sp>
      <p:sp>
        <p:nvSpPr>
          <p:cNvPr id="6" name="Text 4"/>
          <p:cNvSpPr txBox="1"/>
          <p:nvPr/>
        </p:nvSpPr>
        <p:spPr>
          <a:xfrm>
            <a:off x="914400"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Cobertura completa de los 2 documentos de posgrado escaneados.</a:t>
            </a:r>
            <a:endParaRPr lang="en-US" sz="1200" dirty="0"/>
          </a:p>
        </p:txBody>
      </p:sp>
      <p:sp>
        <p:nvSpPr>
          <p:cNvPr id="7" name="Shape 5"/>
          <p:cNvSpPr/>
          <p:nvPr/>
        </p:nvSpPr>
        <p:spPr>
          <a:xfrm>
            <a:off x="6894576"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7123176" y="1874520"/>
            <a:ext cx="384048" cy="384048"/>
          </a:xfrm>
          <a:prstGeom prst="ellipse">
            <a:avLst/>
          </a:prstGeom>
          <a:solidFill>
            <a:srgbClr val="11838D"/>
          </a:solidFill>
          <a:ln/>
        </p:spPr>
      </p:sp>
      <p:sp>
        <p:nvSpPr>
          <p:cNvPr id="9" name="Text 7"/>
          <p:cNvSpPr txBox="1"/>
          <p:nvPr/>
        </p:nvSpPr>
        <p:spPr>
          <a:xfrm>
            <a:off x="762609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02 · Carga horaria docente</a:t>
            </a:r>
            <a:endParaRPr lang="en-US" sz="1500" dirty="0"/>
          </a:p>
        </p:txBody>
      </p:sp>
      <p:sp>
        <p:nvSpPr>
          <p:cNvPr id="10" name="Text 8"/>
          <p:cNvSpPr txBox="1"/>
          <p:nvPr/>
        </p:nvSpPr>
        <p:spPr>
          <a:xfrm>
            <a:off x="7168896"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Validar el distributivo contra el Reglamento de Carrera y Escalafón (ya indexado).</a:t>
            </a:r>
            <a:endParaRPr lang="en-US" sz="1200" dirty="0"/>
          </a:p>
        </p:txBody>
      </p:sp>
      <p:sp>
        <p:nvSpPr>
          <p:cNvPr id="11" name="Shape 9"/>
          <p:cNvSpPr/>
          <p:nvPr/>
        </p:nvSpPr>
        <p:spPr>
          <a:xfrm>
            <a:off x="640080"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4297680"/>
            <a:ext cx="384048" cy="384048"/>
          </a:xfrm>
          <a:prstGeom prst="ellipse">
            <a:avLst/>
          </a:prstGeom>
          <a:solidFill>
            <a:srgbClr val="414C74"/>
          </a:solidFill>
          <a:ln/>
        </p:spPr>
      </p:sp>
      <p:sp>
        <p:nvSpPr>
          <p:cNvPr id="13" name="Text 11"/>
          <p:cNvSpPr txBox="1"/>
          <p:nvPr/>
        </p:nvSpPr>
        <p:spPr>
          <a:xfrm>
            <a:off x="1371600"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03 · Informes de ejecución</a:t>
            </a:r>
            <a:endParaRPr lang="en-US" sz="1500" dirty="0"/>
          </a:p>
        </p:txBody>
      </p:sp>
      <p:sp>
        <p:nvSpPr>
          <p:cNvPr id="14" name="Text 12"/>
          <p:cNvSpPr txBox="1"/>
          <p:nvPr/>
        </p:nvSpPr>
        <p:spPr>
          <a:xfrm>
            <a:off x="914400"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Extender el mismo checklist a informes de ejecución académica.</a:t>
            </a:r>
            <a:endParaRPr lang="en-US" sz="1200" dirty="0"/>
          </a:p>
        </p:txBody>
      </p:sp>
      <p:sp>
        <p:nvSpPr>
          <p:cNvPr id="15" name="Shape 13"/>
          <p:cNvSpPr/>
          <p:nvPr/>
        </p:nvSpPr>
        <p:spPr>
          <a:xfrm>
            <a:off x="6894576"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7123176" y="4297680"/>
            <a:ext cx="384048" cy="384048"/>
          </a:xfrm>
          <a:prstGeom prst="ellipse">
            <a:avLst/>
          </a:prstGeom>
          <a:solidFill>
            <a:srgbClr val="67728F"/>
          </a:solidFill>
          <a:ln/>
        </p:spPr>
      </p:sp>
      <p:sp>
        <p:nvSpPr>
          <p:cNvPr id="17" name="Text 15"/>
          <p:cNvSpPr txBox="1"/>
          <p:nvPr/>
        </p:nvSpPr>
        <p:spPr>
          <a:xfrm>
            <a:off x="7626096"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04 · Validación con usuarios reales</a:t>
            </a:r>
            <a:endParaRPr lang="en-US" sz="1500" dirty="0"/>
          </a:p>
        </p:txBody>
      </p:sp>
      <p:sp>
        <p:nvSpPr>
          <p:cNvPr id="18" name="Text 16"/>
          <p:cNvSpPr txBox="1"/>
          <p:nvPr/>
        </p:nvSpPr>
        <p:spPr>
          <a:xfrm>
            <a:off x="7168896"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Retroalimentación de coordinadores de carrera sobre una muestra de sílabos.</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Preguntas</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Ya en producción, integrado en la Vibe Coding Platform — no un prototipo aislado</a:t>
            </a:r>
            <a:endParaRPr lang="en-US" sz="1800" dirty="0"/>
          </a:p>
        </p:txBody>
      </p:sp>
      <p:sp>
        <p:nvSpPr>
          <p:cNvPr id="4" name="Text 2"/>
          <p:cNvSpPr txBox="1"/>
          <p:nvPr/>
        </p:nvSpPr>
        <p:spPr>
          <a:xfrm>
            <a:off x="822960" y="4754880"/>
            <a:ext cx="10058400" cy="365760"/>
          </a:xfrm>
          <a:prstGeom prst="rect">
            <a:avLst/>
          </a:prstGeom>
          <a:noFill/>
          <a:ln/>
        </p:spPr>
        <p:txBody>
          <a:bodyPr wrap="square" lIns="0" tIns="0" rIns="0" bIns="0" rtlCol="0" anchor="ctr"/>
          <a:lstStyle/>
          <a:p>
            <a:pPr indent="0" marL="0">
              <a:buNone/>
            </a:pPr>
            <a:r>
              <a:rPr lang="en-US" sz="1300" dirty="0">
                <a:solidFill>
                  <a:srgbClr val="3CBDC7"/>
                </a:solidFill>
                <a:latin typeface="Calibri" pitchFamily="34" charset="0"/>
                <a:ea typeface="Calibri" pitchFamily="34" charset="-122"/>
                <a:cs typeface="Calibri" pitchFamily="34" charset="-120"/>
              </a:rPr>
              <a:t>vibe-coding-platform.franciscohiguera.site  ·  francisco.higuera@ute.edu.ec</a:t>
            </a:r>
            <a:endParaRPr lang="en-US" sz="1300" dirty="0"/>
          </a:p>
        </p:txBody>
      </p:sp>
    </p:spTree>
  </p:cSld>
  <p:clrMapOvr>
    <a:masterClrMapping/>
  </p:clrMapOvr>
</p:sld>
</file>

<file path=ppt/theme/theme1.xml><?xml version="1.0" encoding="utf-8"?>
<a:theme xmlns:a="http://schemas.openxmlformats.org/drawingml/2006/main" name="VibeCoding RAG">
  <a:themeElements>
    <a:clrScheme name="VibeCoding RAG">
      <a:dk1>
        <a:srgbClr val="121526"/>
      </a:dk1>
      <a:lt1>
        <a:srgbClr val="FFFFFF"/>
      </a:lt1>
      <a:dk2>
        <a:srgbClr val="242A44"/>
      </a:dk2>
      <a:lt2>
        <a:srgbClr val="EEF1F8"/>
      </a:lt2>
      <a:accent1>
        <a:srgbClr val="1AA3AF"/>
      </a:accent1>
      <a:accent2>
        <a:srgbClr val="11838D"/>
      </a:accent2>
      <a:accent3>
        <a:srgbClr val="414C74"/>
      </a:accent3>
      <a:accent4>
        <a:srgbClr val="3CBDC7"/>
      </a:accent4>
      <a:accent5>
        <a:srgbClr val="67728F"/>
      </a:accent5>
      <a:accent6>
        <a:srgbClr val="5F6B97"/>
      </a:accent6>
      <a:hlink>
        <a:srgbClr val="1AA3AF"/>
      </a:hlink>
      <a:folHlink>
        <a:srgbClr val="11838D"/>
      </a:folHlink>
    </a:clrScheme>
    <a:fontScheme name="VibeCoding RAG">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2026-10-11T02:03:11Z</dcterms:created>
  <dcterms:modified xsi:type="dcterms:W3CDTF">2026-10-11T02:03:11Z</dcterms:modified>
</cp:coreProperties>
</file>
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oblema y oportunidad" id="{2dc944b4-501b-ca38-78eb-b4a77aa0389c}">
          <p14:sldIdLst>
            <p14:sldId id="256"/>
            <p14:sldId id="257"/>
            <p14:sldId id="258"/>
          </p14:sldIdLst>
        </p14:section>
        <p14:section name="Solución y arquitectura" id="{038e9601-a8fb-a27b-1bd8-0dcf65b73dc9}">
          <p14:sldIdLst>
            <p14:sldId id="259"/>
            <p14:sldId id="260"/>
          </p14:sldIdLst>
        </p14:section>
        <p14:section name="Tecnología y resultados" id="{281c7ddb-568b-366f-9b6c-02eb504eab59}">
          <p14:sldIdLst>
            <p14:sldId id="261"/>
            <p14:sldId id="262"/>
            <p14:sldId id="263"/>
          </p14:sldIdLst>
        </p14:section>
        <p14:section name="Demo" id="{8c7115e5-47da-9df4-1fd2-136e0994cb24}">
          <p14:sldIdLst>
            <p14:sldId id="264"/>
          </p14:sldIdLst>
        </p14:section>
        <p14:section name="Impacto y próximos pasos" id="{352b015d-7407-6fe2-1a26-5ffc12b25e47}">
          <p14:sldIdLst>
            <p14:sldId id="265"/>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TITLE">
    <p:bg>
      <p:bgPr>
        <a:solidFill>
          <a:srgbClr val="121526"/>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2377440"/>
            <a:ext cx="10515600" cy="146304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822960" y="3886200"/>
            <a:ext cx="9601200" cy="1097280"/>
          </a:xfrm>
          <a:prstGeom prst="rect">
            <a:avLst/>
          </a:prstGeom>
          <a:noFill/>
          <a:ln/>
        </p:spPr>
        <p:txBody>
          <a:bodyPr wrap="square" rtlCol="0"/>
          <a:lstStyle>
            <a:lvl1pPr algn="l" indent="0" marL="0">
              <a:buNone/>
              <a:defRPr lang="en-US" sz="1800" dirty="0">
                <a:solidFill>
                  <a:srgbClr val="EEF1F8"/>
                </a:solidFill>
                <a:latin typeface="Calibri" pitchFamily="34" charset="0"/>
                <a:ea typeface="Calibri" pitchFamily="34" charset="-122"/>
                <a:cs typeface="Calibri" pitchFamily="34" charset="-120"/>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457200"/>
            <a:ext cx="10881360" cy="822960"/>
          </a:xfrm>
          <a:prstGeom prst="rect">
            <a:avLst/>
          </a:prstGeom>
          <a:noFill/>
          <a:ln/>
        </p:spPr>
        <p:txBody>
          <a:bodyPr wrap="square" rtlCol="0"/>
          <a:lstStyle>
            <a:lvl1pPr algn="l" indent="0" marL="0">
              <a:buNone/>
              <a:defRPr lang="en-US" sz="3000" b="1" dirty="0">
                <a:solidFill>
                  <a:srgbClr val="121526"/>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3" name="Text 0"/>
          <p:cNvSpPr/>
          <p:nvPr>
            <p:ph idx="101" type="body" hasCustomPrompt="1"/>
          </p:nvPr>
        </p:nvSpPr>
        <p:spPr>
          <a:xfrm>
            <a:off x="640080" y="1463040"/>
            <a:ext cx="10881360" cy="4846320"/>
          </a:xfrm>
          <a:prstGeom prst="rect">
            <a:avLst/>
          </a:prstGeom>
          <a:noFill/>
          <a:ln/>
        </p:spPr>
        <p:txBody>
          <a:bodyPr wrap="square" rtlCol="0"/>
          <a:lstStyle>
            <a:lvl1pPr algn="l" indent="0" marL="0">
              <a:buNone/>
              <a:defRPr lang="en-US" sz="1600" dirty="0">
                <a:solidFill>
                  <a:srgbClr val="242A44"/>
                </a:solidFill>
                <a:latin typeface="Calibri" pitchFamily="34" charset="0"/>
                <a:ea typeface="Calibri" pitchFamily="34" charset="-122"/>
                <a:cs typeface="Calibri" pitchFamily="34" charset="-120"/>
              </a:defRPr>
            </a:lvl1pPr>
          </a:lstStyle>
          <a:p>
            <a:pPr algn="l" indent="0" marL="0">
              <a:buNone/>
            </a:pPr>
            <a:endParaRPr lang="en-US" sz="1600" dirty="0"/>
          </a:p>
        </p:txBody>
      </p:sp>
      <p:sp>
        <p:nvSpPr>
          <p:cNvPr id="4" name="Text 0"/>
          <p:cNvSpPr/>
          <p:nvPr/>
        </p:nvSpPr>
        <p:spPr>
          <a:xfrm>
            <a:off x="640080" y="6492240"/>
            <a:ext cx="7315200" cy="274320"/>
          </a:xfrm>
          <a:prstGeom prst="rect">
            <a:avLst/>
          </a:prstGeom>
          <a:noFill/>
          <a:ln/>
        </p:spPr>
        <p:txBody>
          <a:bodyPr wrap="square" rtlCol="0" anchor="ctr"/>
          <a:lstStyle/>
          <a:p>
            <a:pPr indent="0" marL="0">
              <a:buNone/>
            </a:pPr>
            <a:r>
              <a:rPr lang="en-US" sz="1000" dirty="0">
                <a:solidFill>
                  <a:srgbClr val="67728F"/>
                </a:solidFill>
                <a:latin typeface="Calibri" pitchFamily="34" charset="0"/>
                <a:ea typeface="Calibri" pitchFamily="34" charset="-122"/>
                <a:cs typeface="Calibri" pitchFamily="34" charset="-120"/>
              </a:rPr>
              <a:t>DemoDay Saturdays AI Quito 2026 · Validación de sílabos con RAG</a:t>
            </a:r>
            <a:endParaRPr lang="en-US" sz="1000" dirty="0"/>
          </a:p>
        </p:txBody>
      </p:sp>
      <p:sp>
        <p:nvSpPr>
          <p:cNvPr id="5" name="Text 1"/>
          <p:cNvSpPr/>
          <p:nvPr>
            <p:ph idx="103" type="body" hasCustomPrompt="1"/>
          </p:nvPr>
        </p:nvSpPr>
        <p:spPr>
          <a:xfrm>
            <a:off x="11430000" y="6492240"/>
            <a:ext cx="548640" cy="274320"/>
          </a:xfrm>
          <a:prstGeom prst="rect">
            <a:avLst/>
          </a:prstGeom>
          <a:noFill/>
          <a:ln/>
        </p:spPr>
        <p:txBody>
          <a:bodyPr wrap="square" rtlCol="0"/>
          <a:lstStyle>
            <a:lvl1pPr indent="0" marL="0">
              <a:buNone/>
              <a:defRPr lang="en-US" dirty="0"/>
            </a:lvl1pPr>
          </a:lstStyle>
          <a:p>
            <a:pPr indent="0" marL="0">
              <a:buNone/>
            </a:pPr>
            <a:endParaRPr lang="en-US" dirty="0"/>
          </a:p>
        </p:txBody>
      </p:sp>
      <p:sp>
        <p:nvSpPr>
          <p:cNvPr id="25" name="Slide Number Placeholder 0"/>
          <p:cNvSpPr>
            <a:spLocks noGrp="1"/>
          </p:cNvSpPr>
          <p:nvPr>
            <p:ph type="sldNum" sz="quarter" idx="4294967295"/>
          </p:nvPr>
        </p:nvSpPr>
        <p:spPr>
          <a:xfrm>
            <a:off x="11521440" y="649224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7728F"/>
                </a:solidFill>
                <a:latin typeface="Calibri"/>
                <a:ea typeface="Calibri"/>
                <a:cs typeface="Calibri"/>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FREE">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457200"/>
            <a:ext cx="10881360" cy="822960"/>
          </a:xfrm>
          <a:prstGeom prst="rect">
            <a:avLst/>
          </a:prstGeom>
          <a:noFill/>
          <a:ln/>
        </p:spPr>
        <p:txBody>
          <a:bodyPr wrap="square" rtlCol="0"/>
          <a:lstStyle>
            <a:lvl1pPr algn="l" indent="0" marL="0">
              <a:buNone/>
              <a:defRPr lang="en-US" sz="3000" b="1" dirty="0">
                <a:solidFill>
                  <a:srgbClr val="121526"/>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3" name="Text 0"/>
          <p:cNvSpPr/>
          <p:nvPr/>
        </p:nvSpPr>
        <p:spPr>
          <a:xfrm>
            <a:off x="640080" y="6492240"/>
            <a:ext cx="7315200" cy="274320"/>
          </a:xfrm>
          <a:prstGeom prst="rect">
            <a:avLst/>
          </a:prstGeom>
          <a:noFill/>
          <a:ln/>
        </p:spPr>
        <p:txBody>
          <a:bodyPr wrap="square" rtlCol="0" anchor="ctr"/>
          <a:lstStyle/>
          <a:p>
            <a:pPr indent="0" marL="0">
              <a:buNone/>
            </a:pPr>
            <a:r>
              <a:rPr lang="en-US" sz="1000" dirty="0">
                <a:solidFill>
                  <a:srgbClr val="67728F"/>
                </a:solidFill>
                <a:latin typeface="Calibri" pitchFamily="34" charset="0"/>
                <a:ea typeface="Calibri" pitchFamily="34" charset="-122"/>
                <a:cs typeface="Calibri" pitchFamily="34" charset="-120"/>
              </a:rPr>
              <a:t>DemoDay Saturdays AI Quito 2026 · Validación de sílabos con RAG</a:t>
            </a:r>
            <a:endParaRPr lang="en-US" sz="1000" dirty="0"/>
          </a:p>
        </p:txBody>
      </p:sp>
      <p:sp>
        <p:nvSpPr>
          <p:cNvPr id="25" name="Slide Number Placeholder 0"/>
          <p:cNvSpPr>
            <a:spLocks noGrp="1"/>
          </p:cNvSpPr>
          <p:nvPr>
            <p:ph type="sldNum" sz="quarter" idx="4294967295"/>
          </p:nvPr>
        </p:nvSpPr>
        <p:spPr>
          <a:xfrm>
            <a:off x="11521440" y="649224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7728F"/>
                </a:solidFill>
                <a:latin typeface="Calibri"/>
                <a:ea typeface="Calibri"/>
                <a:cs typeface="Calibri"/>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521440" y="649224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7728F"/>
                </a:solidFill>
                <a:latin typeface="Calibri"/>
                <a:ea typeface="Calibri"/>
                <a:cs typeface="Calibri"/>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1" type="body" hasCustomPrompt="1"/>
          </p:nvPr>
        </p:nvSpPr>
        <p:spPr>
          <a:xfrm>
            <a:off x="822960" y="3886200"/>
            <a:ext cx="9601200" cy="1097280"/>
          </a:xfrm>
          <a:prstGeom prst="rect">
            <a:avLst/>
          </a:prstGeom>
          <a:noFill/>
          <a:ln/>
        </p:spPr>
        <p:txBody>
          <a:bodyPr wrap="square" rtlCol="0"/>
          <a:lstStyle/>
          <a:p>
            <a:pPr algn="l" indent="0" marL="0">
              <a:buNone/>
            </a:pPr>
            <a:r>
              <a:rPr lang="en-US" sz="1800" b="1" spc="200" kern="0" dirty="0">
                <a:solidFill>
                  <a:srgbClr val="EEF1F8"/>
                </a:solidFill>
                <a:latin typeface="Calibri" pitchFamily="34" charset="0"/>
                <a:ea typeface="Calibri" pitchFamily="34" charset="-122"/>
                <a:cs typeface="Calibri" pitchFamily="34" charset="-120"/>
              </a:rPr>
              <a:t>DemoDay Saturdays AI Quito 2026</a:t>
            </a:r>
            <a:endParaRPr lang="en-US" sz="1800" dirty="0"/>
          </a:p>
        </p:txBody>
      </p:sp>
      <p:sp>
        <p:nvSpPr>
          <p:cNvPr id="3" name="Text 0"/>
          <p:cNvSpPr/>
          <p:nvPr>
            <p:ph idx="100" type="title" hasCustomPrompt="1"/>
          </p:nvPr>
        </p:nvSpPr>
        <p:spPr>
          <a:xfrm>
            <a:off x="822960" y="2377440"/>
            <a:ext cx="10515600" cy="1463040"/>
          </a:xfrm>
          <a:prstGeom prst="rect">
            <a:avLst/>
          </a:prstGeom>
          <a:noFill/>
          <a:ln/>
        </p:spPr>
        <p:txBody>
          <a:bodyPr wrap="square" rtlCol="0"/>
          <a:lstStyle/>
          <a:p>
            <a:pPr algn="l" indent="0" marL="0">
              <a:buNone/>
            </a:pPr>
            <a:r>
              <a:rPr lang="en-US" sz="4000" b="1" dirty="0">
                <a:solidFill>
                  <a:srgbClr val="FFFFFF"/>
                </a:solidFill>
                <a:latin typeface="Cambria" pitchFamily="34" charset="0"/>
                <a:ea typeface="Cambria" pitchFamily="34" charset="-122"/>
                <a:cs typeface="Cambria" pitchFamily="34" charset="-120"/>
              </a:rPr>
              <a:t>Validación de Sílabos Universitarios</a:t>
            </a:r>
            <a:endParaRPr lang="en-US" sz="4000" dirty="0"/>
          </a:p>
          <a:p>
            <a:pPr algn="l" indent="0" marL="0">
              <a:buNone/>
            </a:pPr>
            <a:r>
              <a:rPr lang="en-US" sz="4000" b="1" dirty="0">
                <a:solidFill>
                  <a:srgbClr val="FFFFFF"/>
                </a:solidFill>
                <a:latin typeface="Cambria" pitchFamily="34" charset="0"/>
                <a:ea typeface="Cambria" pitchFamily="34" charset="-122"/>
                <a:cs typeface="Cambria" pitchFamily="34" charset="-120"/>
              </a:rPr>
              <a:t>con RAG</a:t>
            </a:r>
            <a:endParaRPr lang="en-US" sz="4000" dirty="0"/>
          </a:p>
        </p:txBody>
      </p:sp>
      <p:sp>
        <p:nvSpPr>
          <p:cNvPr id="4" name="Text 0"/>
          <p:cNvSpPr/>
          <p:nvPr>
            <p:ph idx="101" type="body" hasCustomPrompt="1"/>
          </p:nvPr>
        </p:nvSpPr>
        <p:spPr>
          <a:xfrm>
            <a:off x="822960" y="3886200"/>
            <a:ext cx="9601200" cy="1097280"/>
          </a:xfrm>
          <a:prstGeom prst="rect">
            <a:avLst/>
          </a:prstGeom>
          <a:noFill/>
          <a:ln/>
        </p:spPr>
        <p:txBody>
          <a:bodyPr wrap="square" rtlCol="0"/>
          <a:lstStyle/>
          <a:p>
            <a:pPr algn="l" indent="0" marL="0">
              <a:buNone/>
            </a:pPr>
            <a:r>
              <a:rPr lang="en-US" sz="1800" dirty="0">
                <a:solidFill>
                  <a:srgbClr val="EEF1F8"/>
                </a:solidFill>
                <a:latin typeface="Calibri" pitchFamily="34" charset="0"/>
                <a:ea typeface="Calibri" pitchFamily="34" charset="-122"/>
                <a:cs typeface="Calibri" pitchFamily="34" charset="-120"/>
              </a:rPr>
              <a:t>Retrieval-Augmented Generation aplicado al cumplimiento normativo académico</a:t>
            </a:r>
            <a:endParaRPr lang="en-US" sz="1800" dirty="0"/>
          </a:p>
        </p:txBody>
      </p:sp>
      <p:sp>
        <p:nvSpPr>
          <p:cNvPr id="5" name="Text 3"/>
          <p:cNvSpPr txBox="1"/>
          <p:nvPr/>
        </p:nvSpPr>
        <p:spPr>
          <a:xfrm>
            <a:off x="822960" y="6126480"/>
            <a:ext cx="10058400" cy="365760"/>
          </a:xfrm>
          <a:prstGeom prst="rect">
            <a:avLst/>
          </a:prstGeom>
          <a:noFill/>
          <a:ln/>
        </p:spPr>
        <p:txBody>
          <a:bodyPr wrap="square" lIns="0" tIns="0" rIns="0" bIns="0" rtlCol="0" anchor="ctr"/>
          <a:lstStyle/>
          <a:p>
            <a:pPr indent="0" marL="0">
              <a:buNone/>
            </a:pPr>
            <a:r>
              <a:rPr lang="en-US" sz="1200" dirty="0">
                <a:solidFill>
                  <a:srgbClr val="67728F"/>
                </a:solidFill>
                <a:latin typeface="Calibri" pitchFamily="34" charset="0"/>
                <a:ea typeface="Calibri" pitchFamily="34" charset="-122"/>
                <a:cs typeface="Calibri" pitchFamily="34" charset="-120"/>
              </a:rPr>
              <a:t>Francisco Javier Higuera González  ·  Universidad UTE  ·  francisco.higuera@ute.edu.ec</a:t>
            </a:r>
            <a:endParaRPr lang="en-US" sz="1200" dirty="0"/>
          </a:p>
        </p:txBody>
      </p:sp>
      <p:sp>
        <p:nvSpPr>
          <p:cNvPr id="6" name="Shape 4"/>
          <p:cNvSpPr/>
          <p:nvPr/>
        </p:nvSpPr>
        <p:spPr>
          <a:xfrm>
            <a:off x="9692640" y="548640"/>
            <a:ext cx="1828800" cy="1828800"/>
          </a:xfrm>
          <a:prstGeom prst="roundRect">
            <a:avLst>
              <a:gd name="adj" fmla="val 25000"/>
            </a:avLst>
          </a:prstGeom>
          <a:solidFill>
            <a:srgbClr val="11838D"/>
          </a:solidFill>
          <a:ln/>
        </p:spPr>
      </p:sp>
      <p:sp>
        <p:nvSpPr>
          <p:cNvPr id="7" name="Text 5"/>
          <p:cNvSpPr txBox="1"/>
          <p:nvPr/>
        </p:nvSpPr>
        <p:spPr>
          <a:xfrm>
            <a:off x="9692640" y="548640"/>
            <a:ext cx="1828800" cy="182880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RAG</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640080" y="457200"/>
            <a:ext cx="10881360" cy="822960"/>
          </a:xfrm>
          <a:prstGeom prst="rect">
            <a:avLst/>
          </a:prstGeom>
          <a:noFill/>
          <a:ln/>
        </p:spPr>
        <p:txBody>
          <a:bodyPr wrap="square" rtlCol="0"/>
          <a:lstStyle/>
          <a:p>
            <a:pPr algn="l" indent="0" marL="0">
              <a:buNone/>
            </a:pPr>
            <a:r>
              <a:rPr lang="en-US" sz="3000" b="1" dirty="0">
                <a:solidFill>
                  <a:srgbClr val="121526"/>
                </a:solidFill>
                <a:latin typeface="Cambria" pitchFamily="34" charset="0"/>
                <a:ea typeface="Cambria" pitchFamily="34" charset="-122"/>
                <a:cs typeface="Cambria" pitchFamily="34" charset="-120"/>
              </a:rPr>
              <a:t>El problema: revisar un sílabo contra el reglamento es manual, lento y sin trazabilidad</a:t>
            </a:r>
            <a:endParaRPr lang="en-US" sz="3000" dirty="0"/>
          </a:p>
        </p:txBody>
      </p:sp>
      <p:sp>
        <p:nvSpPr>
          <p:cNvPr id="3" name="Shape 1"/>
          <p:cNvSpPr/>
          <p:nvPr/>
        </p:nvSpPr>
        <p:spPr>
          <a:xfrm>
            <a:off x="640080" y="1645920"/>
            <a:ext cx="3419856" cy="4114800"/>
          </a:xfrm>
          <a:prstGeom prst="roundRect">
            <a:avLst>
              <a:gd name="adj" fmla="val 2139"/>
            </a:avLst>
          </a:prstGeom>
          <a:solidFill>
            <a:srgbClr val="EEF1F8"/>
          </a:solidFill>
          <a:ln/>
          <a:effectLst>
            <a:outerShdw sx="100000" sy="100000" kx="0" ky="0" algn="bl" rotWithShape="0" blurRad="76200" dist="25400" dir="5400000">
              <a:srgbClr val="000000">
                <a:alpha val="12000"/>
              </a:srgbClr>
            </a:outerShdw>
          </a:effectLst>
        </p:spPr>
      </p:sp>
      <p:sp>
        <p:nvSpPr>
          <p:cNvPr id="4" name="Shape 2"/>
          <p:cNvSpPr/>
          <p:nvPr/>
        </p:nvSpPr>
        <p:spPr>
          <a:xfrm>
            <a:off x="868680" y="1874520"/>
            <a:ext cx="384048" cy="384048"/>
          </a:xfrm>
          <a:prstGeom prst="ellipse">
            <a:avLst/>
          </a:prstGeom>
          <a:solidFill>
            <a:srgbClr val="67728F"/>
          </a:solidFill>
          <a:ln/>
        </p:spPr>
      </p:sp>
      <p:sp>
        <p:nvSpPr>
          <p:cNvPr id="5" name="Text 3"/>
          <p:cNvSpPr txBox="1"/>
          <p:nvPr/>
        </p:nvSpPr>
        <p:spPr>
          <a:xfrm>
            <a:off x="1371600" y="1847088"/>
            <a:ext cx="2505456" cy="457200"/>
          </a:xfrm>
          <a:prstGeom prst="rect">
            <a:avLst/>
          </a:prstGeom>
          <a:noFill/>
          <a:ln/>
        </p:spPr>
        <p:txBody>
          <a:bodyPr wrap="square" lIns="0" tIns="0" rIns="0" bIns="0" rtlCol="0" anchor="ctr"/>
          <a:lstStyle/>
          <a:p>
            <a:pPr indent="0" marL="0">
              <a:buNone/>
            </a:pPr>
            <a:r>
              <a:rPr lang="en-US" sz="1500" b="1" dirty="0">
                <a:solidFill>
                  <a:srgbClr val="121526"/>
                </a:solidFill>
                <a:latin typeface="Cambria" pitchFamily="34" charset="0"/>
                <a:ea typeface="Cambria" pitchFamily="34" charset="-122"/>
                <a:cs typeface="Cambria" pitchFamily="34" charset="-120"/>
              </a:rPr>
              <a:t>Hoy</a:t>
            </a:r>
            <a:endParaRPr lang="en-US" sz="1500" dirty="0"/>
          </a:p>
        </p:txBody>
      </p:sp>
      <p:sp>
        <p:nvSpPr>
          <p:cNvPr id="6" name="Text 4"/>
          <p:cNvSpPr txBox="1"/>
          <p:nvPr/>
        </p:nvSpPr>
        <p:spPr>
          <a:xfrm>
            <a:off x="914400" y="2395728"/>
            <a:ext cx="2871216" cy="3200400"/>
          </a:xfrm>
          <a:prstGeom prst="rect">
            <a:avLst/>
          </a:prstGeom>
          <a:noFill/>
          <a:ln/>
        </p:spPr>
        <p:txBody>
          <a:bodyPr wrap="square" lIns="0" tIns="0" rIns="0" bIns="0" rtlCol="0" anchor="t"/>
          <a:lstStyle/>
          <a:p>
            <a:pPr indent="0" marL="0">
              <a:buNone/>
            </a:pPr>
            <a:r>
              <a:rPr lang="en-US" sz="1200" dirty="0">
                <a:solidFill>
                  <a:srgbClr val="242A44"/>
                </a:solidFill>
                <a:latin typeface="Calibri" pitchFamily="34" charset="0"/>
                <a:ea typeface="Calibri" pitchFamily="34" charset="-122"/>
                <a:cs typeface="Calibri" pitchFamily="34" charset="-120"/>
              </a:rPr>
              <a:t>Un coordinador lee el sílabo y busca manualmente en reglamentos de decenas de páginas si cumple cada requisito.</a:t>
            </a:r>
            <a:endParaRPr lang="en-US" sz="1200" dirty="0"/>
          </a:p>
        </p:txBody>
      </p:sp>
      <p:sp>
        <p:nvSpPr>
          <p:cNvPr id="7" name="Shape 5"/>
          <p:cNvSpPr/>
          <p:nvPr/>
        </p:nvSpPr>
        <p:spPr>
          <a:xfrm>
            <a:off x="4379976" y="1645920"/>
            <a:ext cx="3419856" cy="4114800"/>
          </a:xfrm>
          <a:prstGeom prst="roundRect">
            <a:avLst>
              <a:gd name="adj" fmla="val 2139"/>
            </a:avLst>
          </a:prstGeom>
          <a:solidFill>
            <a:srgbClr val="EEF1F8"/>
          </a:solidFill>
          <a:ln/>
          <a:effectLst>
            <a:outerShdw sx="100000" sy="100000" kx="0" ky="0" algn="bl" rotWithShape="0" blurRad="76200" dist="25400" dir="5400000">
              <a:srgbClr val="000000">
                <a:alpha val="12000"/>
              </a:srgbClr>
            </a:outerShdw>
          </a:effectLst>
        </p:spPr>
      </p:sp>
      <p:sp>
        <p:nvSpPr>
          <p:cNvPr id="8" name="Shape 6"/>
          <p:cNvSpPr/>
          <p:nvPr/>
        </p:nvSpPr>
        <p:spPr>
          <a:xfrm>
            <a:off x="4608576" y="1874520"/>
            <a:ext cx="384048" cy="384048"/>
          </a:xfrm>
          <a:prstGeom prst="ellipse">
            <a:avLst/>
          </a:prstGeom>
          <a:solidFill>
            <a:srgbClr val="414C74"/>
          </a:solidFill>
          <a:ln/>
        </p:spPr>
      </p:sp>
      <p:sp>
        <p:nvSpPr>
          <p:cNvPr id="9" name="Text 7"/>
          <p:cNvSpPr txBox="1"/>
          <p:nvPr/>
        </p:nvSpPr>
        <p:spPr>
          <a:xfrm>
            <a:off x="5111496" y="1847088"/>
            <a:ext cx="2505456" cy="457200"/>
          </a:xfrm>
          <a:prstGeom prst="rect">
            <a:avLst/>
          </a:prstGeom>
          <a:noFill/>
          <a:ln/>
        </p:spPr>
        <p:txBody>
          <a:bodyPr wrap="square" lIns="0" tIns="0" rIns="0" bIns="0" rtlCol="0" anchor="ctr"/>
          <a:lstStyle/>
          <a:p>
            <a:pPr indent="0" marL="0">
              <a:buNone/>
            </a:pPr>
            <a:r>
              <a:rPr lang="en-US" sz="1500" b="1" dirty="0">
                <a:solidFill>
                  <a:srgbClr val="121526"/>
                </a:solidFill>
                <a:latin typeface="Cambria" pitchFamily="34" charset="0"/>
                <a:ea typeface="Cambria" pitchFamily="34" charset="-122"/>
                <a:cs typeface="Cambria" pitchFamily="34" charset="-120"/>
              </a:rPr>
              <a:t>El riesgo</a:t>
            </a:r>
            <a:endParaRPr lang="en-US" sz="1500" dirty="0"/>
          </a:p>
        </p:txBody>
      </p:sp>
      <p:sp>
        <p:nvSpPr>
          <p:cNvPr id="10" name="Text 8"/>
          <p:cNvSpPr txBox="1"/>
          <p:nvPr/>
        </p:nvSpPr>
        <p:spPr>
          <a:xfrm>
            <a:off x="4654296" y="2395728"/>
            <a:ext cx="2871216" cy="3200400"/>
          </a:xfrm>
          <a:prstGeom prst="rect">
            <a:avLst/>
          </a:prstGeom>
          <a:noFill/>
          <a:ln/>
        </p:spPr>
        <p:txBody>
          <a:bodyPr wrap="square" lIns="0" tIns="0" rIns="0" bIns="0" rtlCol="0" anchor="t"/>
          <a:lstStyle/>
          <a:p>
            <a:pPr indent="0" marL="0">
              <a:buNone/>
            </a:pPr>
            <a:r>
              <a:rPr lang="en-US" sz="1200" dirty="0">
                <a:solidFill>
                  <a:srgbClr val="242A44"/>
                </a:solidFill>
                <a:latin typeface="Calibri" pitchFamily="34" charset="0"/>
                <a:ea typeface="Calibri" pitchFamily="34" charset="-122"/>
                <a:cs typeface="Calibri" pitchFamily="34" charset="-120"/>
              </a:rPr>
              <a:t>El criterio varía entre revisores y rara vez queda registrado qué artículo exige cada elemento — afecta procesos de acreditación.</a:t>
            </a:r>
            <a:endParaRPr lang="en-US" sz="1200" dirty="0"/>
          </a:p>
        </p:txBody>
      </p:sp>
      <p:sp>
        <p:nvSpPr>
          <p:cNvPr id="11" name="Shape 9"/>
          <p:cNvSpPr/>
          <p:nvPr/>
        </p:nvSpPr>
        <p:spPr>
          <a:xfrm>
            <a:off x="8119872" y="1645920"/>
            <a:ext cx="3419856" cy="4114800"/>
          </a:xfrm>
          <a:prstGeom prst="roundRect">
            <a:avLst>
              <a:gd name="adj" fmla="val 2139"/>
            </a:avLst>
          </a:prstGeom>
          <a:solidFill>
            <a:srgbClr val="EEF1F8"/>
          </a:solidFill>
          <a:ln/>
          <a:effectLst>
            <a:outerShdw sx="100000" sy="100000" kx="0" ky="0" algn="bl" rotWithShape="0" blurRad="76200" dist="25400" dir="5400000">
              <a:srgbClr val="000000">
                <a:alpha val="12000"/>
              </a:srgbClr>
            </a:outerShdw>
          </a:effectLst>
        </p:spPr>
      </p:sp>
      <p:sp>
        <p:nvSpPr>
          <p:cNvPr id="12" name="Shape 10"/>
          <p:cNvSpPr/>
          <p:nvPr/>
        </p:nvSpPr>
        <p:spPr>
          <a:xfrm>
            <a:off x="8348472" y="1874520"/>
            <a:ext cx="384048" cy="384048"/>
          </a:xfrm>
          <a:prstGeom prst="ellipse">
            <a:avLst/>
          </a:prstGeom>
          <a:solidFill>
            <a:srgbClr val="1AA3AF"/>
          </a:solidFill>
          <a:ln/>
        </p:spPr>
      </p:sp>
      <p:sp>
        <p:nvSpPr>
          <p:cNvPr id="13" name="Text 11"/>
          <p:cNvSpPr txBox="1"/>
          <p:nvPr/>
        </p:nvSpPr>
        <p:spPr>
          <a:xfrm>
            <a:off x="8851392" y="1847088"/>
            <a:ext cx="2505456" cy="457200"/>
          </a:xfrm>
          <a:prstGeom prst="rect">
            <a:avLst/>
          </a:prstGeom>
          <a:noFill/>
          <a:ln/>
        </p:spPr>
        <p:txBody>
          <a:bodyPr wrap="square" lIns="0" tIns="0" rIns="0" bIns="0" rtlCol="0" anchor="ctr"/>
          <a:lstStyle/>
          <a:p>
            <a:pPr indent="0" marL="0">
              <a:buNone/>
            </a:pPr>
            <a:r>
              <a:rPr lang="en-US" sz="1500" b="1" dirty="0">
                <a:solidFill>
                  <a:srgbClr val="121526"/>
                </a:solidFill>
                <a:latin typeface="Cambria" pitchFamily="34" charset="0"/>
                <a:ea typeface="Cambria" pitchFamily="34" charset="-122"/>
                <a:cs typeface="Cambria" pitchFamily="34" charset="-120"/>
              </a:rPr>
              <a:t>Para quién</a:t>
            </a:r>
            <a:endParaRPr lang="en-US" sz="1500" dirty="0"/>
          </a:p>
        </p:txBody>
      </p:sp>
      <p:sp>
        <p:nvSpPr>
          <p:cNvPr id="14" name="Text 12"/>
          <p:cNvSpPr txBox="1"/>
          <p:nvPr/>
        </p:nvSpPr>
        <p:spPr>
          <a:xfrm>
            <a:off x="8394192" y="2395728"/>
            <a:ext cx="2871216" cy="3200400"/>
          </a:xfrm>
          <a:prstGeom prst="rect">
            <a:avLst/>
          </a:prstGeom>
          <a:noFill/>
          <a:ln/>
        </p:spPr>
        <p:txBody>
          <a:bodyPr wrap="square" lIns="0" tIns="0" rIns="0" bIns="0" rtlCol="0" anchor="t"/>
          <a:lstStyle/>
          <a:p>
            <a:pPr indent="0" marL="0">
              <a:buNone/>
            </a:pPr>
            <a:r>
              <a:rPr lang="en-US" sz="1200" dirty="0">
                <a:solidFill>
                  <a:srgbClr val="242A44"/>
                </a:solidFill>
                <a:latin typeface="Calibri" pitchFamily="34" charset="0"/>
                <a:ea typeface="Calibri" pitchFamily="34" charset="-122"/>
                <a:cs typeface="Calibri" pitchFamily="34" charset="-120"/>
              </a:rPr>
              <a:t>Coordinadores y directores de carrera de la UTE que revisan sílabos antes de cada periodo académico.</a:t>
            </a:r>
            <a:endParaRPr lang="en-US" sz="1200" dirty="0"/>
          </a:p>
        </p:txBody>
      </p:sp>
      <p:sp>
        <p:nvSpPr>
          <p:cNvPr id="25" name="Slide Number Placeholder 0"/>
          <p:cNvSpPr>
            <a:spLocks noGrp="1"/>
          </p:cNvSpPr>
          <p:nvPr>
            <p:ph type="sldNum" sz="quarter" idx="4294967295"/>
          </p:nvPr>
        </p:nvSpPr>
        <p:spPr>
          <a:xfrm>
            <a:off x="11521440" y="649224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7728F"/>
                </a:solidFill>
                <a:latin typeface="Calibri"/>
                <a:ea typeface="Calibri"/>
                <a:cs typeface="Calibri"/>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640080" y="457200"/>
            <a:ext cx="10881360" cy="822960"/>
          </a:xfrm>
          <a:prstGeom prst="rect">
            <a:avLst/>
          </a:prstGeom>
          <a:noFill/>
          <a:ln/>
        </p:spPr>
        <p:txBody>
          <a:bodyPr wrap="square" rtlCol="0"/>
          <a:lstStyle/>
          <a:p>
            <a:pPr algn="l" indent="0" marL="0">
              <a:buNone/>
            </a:pPr>
            <a:r>
              <a:rPr lang="en-US" sz="3000" b="1" dirty="0">
                <a:solidFill>
                  <a:srgbClr val="121526"/>
                </a:solidFill>
                <a:latin typeface="Cambria" pitchFamily="34" charset="0"/>
                <a:ea typeface="Cambria" pitchFamily="34" charset="-122"/>
                <a:cs typeface="Cambria" pitchFamily="34" charset="-120"/>
              </a:rPr>
              <a:t>La mejora: de minutos/horas por sílabo a segundos, con la cita exacta del artículo</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40080" y="1554480"/>
          <a:ext cx="10881360" cy="4206240"/>
        </p:xfrm>
        <a:graphic>
          <a:graphicData uri="http://schemas.openxmlformats.org/drawingml/2006/table">
            <a:tbl>
              <a:tblPr/>
              <a:tblGrid>
                <a:gridCol w="2194560"/>
                <a:gridCol w="4343400"/>
                <a:gridCol w="4343400"/>
              </a:tblGrid>
              <a:tr h="841248">
                <a:tc>
                  <a:txBody>
                    <a:bodyPr/>
                    <a:lstStyle/>
                    <a:p>
                      <a:pPr indent="0" marL="0">
                        <a:buNone/>
                      </a:pPr>
                      <a:endParaRPr lang="en-US" sz="1400" dirty="0">
                        <a:latin typeface="Calibri" charset="0"/>
                        <a:ea typeface="Calibri" charset="0"/>
                        <a:cs typeface="Calibri" charset="0"/>
                      </a:endParaRPr>
                    </a:p>
                  </a:txBody>
                  <a:tcPr marL="91440" marR="91440" marT="45720" marB="45720">
                    <a:lnL w="12700" cap="flat" cmpd="sng" algn="ctr">
                      <a:solidFill>
                        <a:srgbClr val="EEF1F8"/>
                      </a:solidFill>
                      <a:prstDash val="solid"/>
                      <a:round/>
                      <a:headEnd type="none" w="med" len="med"/>
                      <a:tailEnd type="none" w="med" len="med"/>
                    </a:lnL>
                    <a:lnR w="12700" cap="flat" cmpd="sng" algn="ctr">
                      <a:solidFill>
                        <a:srgbClr val="EEF1F8"/>
                      </a:solidFill>
                      <a:prstDash val="solid"/>
                      <a:round/>
                      <a:headEnd type="none" w="med" len="med"/>
                      <a:tailEnd type="none" w="med" len="med"/>
                    </a:lnR>
                    <a:lnT w="12700" cap="flat" cmpd="sng" algn="ctr">
                      <a:solidFill>
                        <a:srgbClr val="EEF1F8"/>
                      </a:solidFill>
                      <a:prstDash val="solid"/>
                      <a:round/>
                      <a:headEnd type="none" w="med" len="med"/>
                      <a:tailEnd type="none" w="med" len="med"/>
                    </a:lnT>
                    <a:lnB w="12700" cap="flat" cmpd="sng" algn="ctr">
                      <a:solidFill>
                        <a:srgbClr val="EEF1F8"/>
                      </a:solidFill>
                      <a:prstDash val="solid"/>
                      <a:round/>
                      <a:headEnd type="none" w="med" len="med"/>
                      <a:tailEnd type="none" w="med" len="med"/>
                    </a:lnB>
                    <a:solidFill>
                      <a:srgbClr val="121526"/>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Antes</a:t>
                      </a:r>
                      <a:endParaRPr lang="en-US" sz="1400" dirty="0">
                        <a:latin typeface="Calibri" charset="0"/>
                        <a:ea typeface="Calibri" charset="0"/>
                        <a:cs typeface="Calibri" charset="0"/>
                      </a:endParaRPr>
                    </a:p>
                  </a:txBody>
                  <a:tcPr marL="91440" marR="91440" marT="45720" marB="45720">
                    <a:lnL w="12700" cap="flat" cmpd="sng" algn="ctr">
                      <a:solidFill>
                        <a:srgbClr val="EEF1F8"/>
                      </a:solidFill>
                      <a:prstDash val="solid"/>
                      <a:round/>
                      <a:headEnd type="none" w="med" len="med"/>
                      <a:tailEnd type="none" w="med" len="med"/>
                    </a:lnL>
                    <a:lnR w="12700" cap="flat" cmpd="sng" algn="ctr">
                      <a:solidFill>
                        <a:srgbClr val="EEF1F8"/>
                      </a:solidFill>
                      <a:prstDash val="solid"/>
                      <a:round/>
                      <a:headEnd type="none" w="med" len="med"/>
                      <a:tailEnd type="none" w="med" len="med"/>
                    </a:lnR>
                    <a:lnT w="12700" cap="flat" cmpd="sng" algn="ctr">
                      <a:solidFill>
                        <a:srgbClr val="EEF1F8"/>
                      </a:solidFill>
                      <a:prstDash val="solid"/>
                      <a:round/>
                      <a:headEnd type="none" w="med" len="med"/>
                      <a:tailEnd type="none" w="med" len="med"/>
                    </a:lnT>
                    <a:lnB w="12700" cap="flat" cmpd="sng" algn="ctr">
                      <a:solidFill>
                        <a:srgbClr val="EEF1F8"/>
                      </a:solidFill>
                      <a:prstDash val="solid"/>
                      <a:round/>
                      <a:headEnd type="none" w="med" len="med"/>
                      <a:tailEnd type="none" w="med" len="med"/>
                    </a:lnB>
                    <a:solidFill>
                      <a:srgbClr val="121526"/>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Con el sistema (RAG)</a:t>
                      </a:r>
                      <a:endParaRPr lang="en-US" sz="1400" dirty="0">
                        <a:latin typeface="Calibri" charset="0"/>
                        <a:ea typeface="Calibri" charset="0"/>
                        <a:cs typeface="Calibri" charset="0"/>
                      </a:endParaRPr>
                    </a:p>
                  </a:txBody>
                  <a:tcPr marL="91440" marR="91440" marT="45720" marB="45720">
                    <a:lnL w="12700" cap="flat" cmpd="sng" algn="ctr">
                      <a:solidFill>
                        <a:srgbClr val="EEF1F8"/>
                      </a:solidFill>
                      <a:prstDash val="solid"/>
                      <a:round/>
                      <a:headEnd type="none" w="med" len="med"/>
                      <a:tailEnd type="none" w="med" len="med"/>
                    </a:lnL>
                    <a:lnR w="12700" cap="flat" cmpd="sng" algn="ctr">
                      <a:solidFill>
                        <a:srgbClr val="EEF1F8"/>
                      </a:solidFill>
                      <a:prstDash val="solid"/>
                      <a:round/>
                      <a:headEnd type="none" w="med" len="med"/>
                      <a:tailEnd type="none" w="med" len="med"/>
                    </a:lnR>
                    <a:lnT w="12700" cap="flat" cmpd="sng" algn="ctr">
                      <a:solidFill>
                        <a:srgbClr val="EEF1F8"/>
                      </a:solidFill>
                      <a:prstDash val="solid"/>
                      <a:round/>
                      <a:headEnd type="none" w="med" len="med"/>
                      <a:tailEnd type="none" w="med" len="med"/>
                    </a:lnT>
                    <a:lnB w="12700" cap="flat" cmpd="sng" algn="ctr">
                      <a:solidFill>
                        <a:srgbClr val="EEF1F8"/>
                      </a:solidFill>
                      <a:prstDash val="solid"/>
                      <a:round/>
                      <a:headEnd type="none" w="med" len="med"/>
                      <a:tailEnd type="none" w="med" len="med"/>
                    </a:lnB>
                    <a:solidFill>
                      <a:srgbClr val="121526"/>
                    </a:solidFill>
                  </a:tcPr>
                </a:tc>
              </a:tr>
              <a:tr h="841248">
                <a:tc>
                  <a:txBody>
                    <a:bodyPr/>
                    <a:lstStyle/>
                    <a:p>
                      <a:pPr indent="0" marL="0">
                        <a:buNone/>
                      </a:pPr>
                      <a:r>
                        <a:rPr lang="en-US" sz="1400" dirty="0">
                          <a:solidFill>
                            <a:srgbClr val="242A44"/>
                          </a:solidFill>
                          <a:latin typeface="Calibri" pitchFamily="34" charset="0"/>
                          <a:ea typeface="Calibri" pitchFamily="34" charset="-122"/>
                          <a:cs typeface="Calibri" pitchFamily="34" charset="-120"/>
                        </a:rPr>
                        <a:t>Tiempo</a:t>
                      </a:r>
                      <a:endParaRPr lang="en-US" sz="1400" dirty="0">
                        <a:latin typeface="Calibri" charset="0"/>
                        <a:ea typeface="Calibri" charset="0"/>
                        <a:cs typeface="Calibri" charset="0"/>
                      </a:endParaRPr>
                    </a:p>
                  </a:txBody>
                  <a:tcPr marL="91440" marR="91440" marT="45720" marB="45720">
                    <a:lnL w="12700" cap="flat" cmpd="sng" algn="ctr">
                      <a:solidFill>
                        <a:srgbClr val="EEF1F8"/>
                      </a:solidFill>
                      <a:prstDash val="solid"/>
                      <a:round/>
                      <a:headEnd type="none" w="med" len="med"/>
                      <a:tailEnd type="none" w="med" len="med"/>
                    </a:lnL>
                    <a:lnR w="12700" cap="flat" cmpd="sng" algn="ctr">
                      <a:solidFill>
                        <a:srgbClr val="EEF1F8"/>
                      </a:solidFill>
                      <a:prstDash val="solid"/>
                      <a:round/>
                      <a:headEnd type="none" w="med" len="med"/>
                      <a:tailEnd type="none" w="med" len="med"/>
                    </a:lnR>
                    <a:lnT w="12700" cap="flat" cmpd="sng" algn="ctr">
                      <a:solidFill>
                        <a:srgbClr val="EEF1F8"/>
                      </a:solidFill>
                      <a:prstDash val="solid"/>
                      <a:round/>
                      <a:headEnd type="none" w="med" len="med"/>
                      <a:tailEnd type="none" w="med" len="med"/>
                    </a:lnT>
                    <a:lnB w="12700" cap="flat" cmpd="sng" algn="ctr">
                      <a:solidFill>
                        <a:srgbClr val="EEF1F8"/>
                      </a:solidFill>
                      <a:prstDash val="solid"/>
                      <a:round/>
                      <a:headEnd type="none" w="med" len="med"/>
                      <a:tailEnd type="none" w="med" len="med"/>
                    </a:lnB>
                  </a:tcPr>
                </a:tc>
                <a:tc>
                  <a:txBody>
                    <a:bodyPr/>
                    <a:lstStyle/>
                    <a:p>
                      <a:pPr indent="0" marL="0">
                        <a:buNone/>
                      </a:pPr>
                      <a:r>
                        <a:rPr lang="en-US" sz="1400" dirty="0">
                          <a:solidFill>
                            <a:srgbClr val="242A44"/>
                          </a:solidFill>
                          <a:latin typeface="Calibri" pitchFamily="34" charset="0"/>
                          <a:ea typeface="Calibri" pitchFamily="34" charset="-122"/>
                          <a:cs typeface="Calibri" pitchFamily="34" charset="-120"/>
                        </a:rPr>
                        <a:t>Minutos a horas por sílabo</a:t>
                      </a:r>
                      <a:endParaRPr lang="en-US" sz="1400" dirty="0">
                        <a:latin typeface="Calibri" charset="0"/>
                        <a:ea typeface="Calibri" charset="0"/>
                        <a:cs typeface="Calibri" charset="0"/>
                      </a:endParaRPr>
                    </a:p>
                  </a:txBody>
                  <a:tcPr marL="91440" marR="91440" marT="45720" marB="45720">
                    <a:lnL w="12700" cap="flat" cmpd="sng" algn="ctr">
                      <a:solidFill>
                        <a:srgbClr val="EEF1F8"/>
                      </a:solidFill>
                      <a:prstDash val="solid"/>
                      <a:round/>
                      <a:headEnd type="none" w="med" len="med"/>
                      <a:tailEnd type="none" w="med" len="med"/>
                    </a:lnL>
                    <a:lnR w="12700" cap="flat" cmpd="sng" algn="ctr">
                      <a:solidFill>
                        <a:srgbClr val="EEF1F8"/>
                      </a:solidFill>
                      <a:prstDash val="solid"/>
                      <a:round/>
                      <a:headEnd type="none" w="med" len="med"/>
                      <a:tailEnd type="none" w="med" len="med"/>
                    </a:lnR>
                    <a:lnT w="12700" cap="flat" cmpd="sng" algn="ctr">
                      <a:solidFill>
                        <a:srgbClr val="EEF1F8"/>
                      </a:solidFill>
                      <a:prstDash val="solid"/>
                      <a:round/>
                      <a:headEnd type="none" w="med" len="med"/>
                      <a:tailEnd type="none" w="med" len="med"/>
                    </a:lnT>
                    <a:lnB w="12700" cap="flat" cmpd="sng" algn="ctr">
                      <a:solidFill>
                        <a:srgbClr val="EEF1F8"/>
                      </a:solidFill>
                      <a:prstDash val="solid"/>
                      <a:round/>
                      <a:headEnd type="none" w="med" len="med"/>
                      <a:tailEnd type="none" w="med" len="med"/>
                    </a:lnB>
                  </a:tcPr>
                </a:tc>
                <a:tc>
                  <a:txBody>
                    <a:bodyPr/>
                    <a:lstStyle/>
                    <a:p>
                      <a:pPr indent="0" marL="0">
                        <a:buNone/>
                      </a:pPr>
                      <a:r>
                        <a:rPr lang="en-US" sz="1400" dirty="0">
                          <a:solidFill>
                            <a:srgbClr val="242A44"/>
                          </a:solidFill>
                          <a:latin typeface="Calibri" pitchFamily="34" charset="0"/>
                          <a:ea typeface="Calibri" pitchFamily="34" charset="-122"/>
                          <a:cs typeface="Calibri" pitchFamily="34" charset="-120"/>
                        </a:rPr>
                        <a:t>Segundos por sílabo</a:t>
                      </a:r>
                      <a:endParaRPr lang="en-US" sz="1400" dirty="0">
                        <a:latin typeface="Calibri" charset="0"/>
                        <a:ea typeface="Calibri" charset="0"/>
                        <a:cs typeface="Calibri" charset="0"/>
                      </a:endParaRPr>
                    </a:p>
                  </a:txBody>
                  <a:tcPr marL="91440" marR="91440" marT="45720" marB="45720">
                    <a:lnL w="12700" cap="flat" cmpd="sng" algn="ctr">
                      <a:solidFill>
                        <a:srgbClr val="EEF1F8"/>
                      </a:solidFill>
                      <a:prstDash val="solid"/>
                      <a:round/>
                      <a:headEnd type="none" w="med" len="med"/>
                      <a:tailEnd type="none" w="med" len="med"/>
                    </a:lnL>
                    <a:lnR w="12700" cap="flat" cmpd="sng" algn="ctr">
                      <a:solidFill>
                        <a:srgbClr val="EEF1F8"/>
                      </a:solidFill>
                      <a:prstDash val="solid"/>
                      <a:round/>
                      <a:headEnd type="none" w="med" len="med"/>
                      <a:tailEnd type="none" w="med" len="med"/>
                    </a:lnR>
                    <a:lnT w="12700" cap="flat" cmpd="sng" algn="ctr">
                      <a:solidFill>
                        <a:srgbClr val="EEF1F8"/>
                      </a:solidFill>
                      <a:prstDash val="solid"/>
                      <a:round/>
                      <a:headEnd type="none" w="med" len="med"/>
                      <a:tailEnd type="none" w="med" len="med"/>
                    </a:lnT>
                    <a:lnB w="12700" cap="flat" cmpd="sng" algn="ctr">
                      <a:solidFill>
                        <a:srgbClr val="EEF1F8"/>
                      </a:solidFill>
                      <a:prstDash val="solid"/>
                      <a:round/>
                      <a:headEnd type="none" w="med" len="med"/>
                      <a:tailEnd type="none" w="med" len="med"/>
                    </a:lnB>
                  </a:tcPr>
                </a:tc>
              </a:tr>
              <a:tr h="841248">
                <a:tc>
                  <a:txBody>
                    <a:bodyPr/>
                    <a:lstStyle/>
                    <a:p>
                      <a:pPr indent="0" marL="0">
                        <a:buNone/>
                      </a:pPr>
                      <a:r>
                        <a:rPr lang="en-US" sz="1400" dirty="0">
                          <a:solidFill>
                            <a:srgbClr val="242A44"/>
                          </a:solidFill>
                          <a:latin typeface="Calibri" pitchFamily="34" charset="0"/>
                          <a:ea typeface="Calibri" pitchFamily="34" charset="-122"/>
                          <a:cs typeface="Calibri" pitchFamily="34" charset="-120"/>
                        </a:rPr>
                        <a:t>Criterio</a:t>
                      </a:r>
                      <a:endParaRPr lang="en-US" sz="1400" dirty="0">
                        <a:latin typeface="Calibri" charset="0"/>
                        <a:ea typeface="Calibri" charset="0"/>
                        <a:cs typeface="Calibri" charset="0"/>
                      </a:endParaRPr>
                    </a:p>
                  </a:txBody>
                  <a:tcPr marL="91440" marR="91440" marT="45720" marB="45720">
                    <a:lnL w="12700" cap="flat" cmpd="sng" algn="ctr">
                      <a:solidFill>
                        <a:srgbClr val="EEF1F8"/>
                      </a:solidFill>
                      <a:prstDash val="solid"/>
                      <a:round/>
                      <a:headEnd type="none" w="med" len="med"/>
                      <a:tailEnd type="none" w="med" len="med"/>
                    </a:lnL>
                    <a:lnR w="12700" cap="flat" cmpd="sng" algn="ctr">
                      <a:solidFill>
                        <a:srgbClr val="EEF1F8"/>
                      </a:solidFill>
                      <a:prstDash val="solid"/>
                      <a:round/>
                      <a:headEnd type="none" w="med" len="med"/>
                      <a:tailEnd type="none" w="med" len="med"/>
                    </a:lnR>
                    <a:lnT w="12700" cap="flat" cmpd="sng" algn="ctr">
                      <a:solidFill>
                        <a:srgbClr val="EEF1F8"/>
                      </a:solidFill>
                      <a:prstDash val="solid"/>
                      <a:round/>
                      <a:headEnd type="none" w="med" len="med"/>
                      <a:tailEnd type="none" w="med" len="med"/>
                    </a:lnT>
                    <a:lnB w="12700" cap="flat" cmpd="sng" algn="ctr">
                      <a:solidFill>
                        <a:srgbClr val="EEF1F8"/>
                      </a:solidFill>
                      <a:prstDash val="solid"/>
                      <a:round/>
                      <a:headEnd type="none" w="med" len="med"/>
                      <a:tailEnd type="none" w="med" len="med"/>
                    </a:lnB>
                  </a:tcPr>
                </a:tc>
                <a:tc>
                  <a:txBody>
                    <a:bodyPr/>
                    <a:lstStyle/>
                    <a:p>
                      <a:pPr indent="0" marL="0">
                        <a:buNone/>
                      </a:pPr>
                      <a:r>
                        <a:rPr lang="en-US" sz="1400" dirty="0">
                          <a:solidFill>
                            <a:srgbClr val="242A44"/>
                          </a:solidFill>
                          <a:latin typeface="Calibri" pitchFamily="34" charset="0"/>
                          <a:ea typeface="Calibri" pitchFamily="34" charset="-122"/>
                          <a:cs typeface="Calibri" pitchFamily="34" charset="-120"/>
                        </a:rPr>
                        <a:t>Varía según el revisor</a:t>
                      </a:r>
                      <a:endParaRPr lang="en-US" sz="1400" dirty="0">
                        <a:latin typeface="Calibri" charset="0"/>
                        <a:ea typeface="Calibri" charset="0"/>
                        <a:cs typeface="Calibri" charset="0"/>
                      </a:endParaRPr>
                    </a:p>
                  </a:txBody>
                  <a:tcPr marL="91440" marR="91440" marT="45720" marB="45720">
                    <a:lnL w="12700" cap="flat" cmpd="sng" algn="ctr">
                      <a:solidFill>
                        <a:srgbClr val="EEF1F8"/>
                      </a:solidFill>
                      <a:prstDash val="solid"/>
                      <a:round/>
                      <a:headEnd type="none" w="med" len="med"/>
                      <a:tailEnd type="none" w="med" len="med"/>
                    </a:lnL>
                    <a:lnR w="12700" cap="flat" cmpd="sng" algn="ctr">
                      <a:solidFill>
                        <a:srgbClr val="EEF1F8"/>
                      </a:solidFill>
                      <a:prstDash val="solid"/>
                      <a:round/>
                      <a:headEnd type="none" w="med" len="med"/>
                      <a:tailEnd type="none" w="med" len="med"/>
                    </a:lnR>
                    <a:lnT w="12700" cap="flat" cmpd="sng" algn="ctr">
                      <a:solidFill>
                        <a:srgbClr val="EEF1F8"/>
                      </a:solidFill>
                      <a:prstDash val="solid"/>
                      <a:round/>
                      <a:headEnd type="none" w="med" len="med"/>
                      <a:tailEnd type="none" w="med" len="med"/>
                    </a:lnT>
                    <a:lnB w="12700" cap="flat" cmpd="sng" algn="ctr">
                      <a:solidFill>
                        <a:srgbClr val="EEF1F8"/>
                      </a:solidFill>
                      <a:prstDash val="solid"/>
                      <a:round/>
                      <a:headEnd type="none" w="med" len="med"/>
                      <a:tailEnd type="none" w="med" len="med"/>
                    </a:lnB>
                  </a:tcPr>
                </a:tc>
                <a:tc>
                  <a:txBody>
                    <a:bodyPr/>
                    <a:lstStyle/>
                    <a:p>
                      <a:pPr indent="0" marL="0">
                        <a:buNone/>
                      </a:pPr>
                      <a:r>
                        <a:rPr lang="en-US" sz="1400" dirty="0">
                          <a:solidFill>
                            <a:srgbClr val="242A44"/>
                          </a:solidFill>
                          <a:latin typeface="Calibri" pitchFamily="34" charset="0"/>
                          <a:ea typeface="Calibri" pitchFamily="34" charset="-122"/>
                          <a:cs typeface="Calibri" pitchFamily="34" charset="-120"/>
                        </a:rPr>
                        <a:t>Mismo checklist de 5 criterios, siempre</a:t>
                      </a:r>
                      <a:endParaRPr lang="en-US" sz="1400" dirty="0">
                        <a:latin typeface="Calibri" charset="0"/>
                        <a:ea typeface="Calibri" charset="0"/>
                        <a:cs typeface="Calibri" charset="0"/>
                      </a:endParaRPr>
                    </a:p>
                  </a:txBody>
                  <a:tcPr marL="91440" marR="91440" marT="45720" marB="45720">
                    <a:lnL w="12700" cap="flat" cmpd="sng" algn="ctr">
                      <a:solidFill>
                        <a:srgbClr val="EEF1F8"/>
                      </a:solidFill>
                      <a:prstDash val="solid"/>
                      <a:round/>
                      <a:headEnd type="none" w="med" len="med"/>
                      <a:tailEnd type="none" w="med" len="med"/>
                    </a:lnL>
                    <a:lnR w="12700" cap="flat" cmpd="sng" algn="ctr">
                      <a:solidFill>
                        <a:srgbClr val="EEF1F8"/>
                      </a:solidFill>
                      <a:prstDash val="solid"/>
                      <a:round/>
                      <a:headEnd type="none" w="med" len="med"/>
                      <a:tailEnd type="none" w="med" len="med"/>
                    </a:lnR>
                    <a:lnT w="12700" cap="flat" cmpd="sng" algn="ctr">
                      <a:solidFill>
                        <a:srgbClr val="EEF1F8"/>
                      </a:solidFill>
                      <a:prstDash val="solid"/>
                      <a:round/>
                      <a:headEnd type="none" w="med" len="med"/>
                      <a:tailEnd type="none" w="med" len="med"/>
                    </a:lnT>
                    <a:lnB w="12700" cap="flat" cmpd="sng" algn="ctr">
                      <a:solidFill>
                        <a:srgbClr val="EEF1F8"/>
                      </a:solidFill>
                      <a:prstDash val="solid"/>
                      <a:round/>
                      <a:headEnd type="none" w="med" len="med"/>
                      <a:tailEnd type="none" w="med" len="med"/>
                    </a:lnB>
                  </a:tcPr>
                </a:tc>
              </a:tr>
              <a:tr h="841248">
                <a:tc>
                  <a:txBody>
                    <a:bodyPr/>
                    <a:lstStyle/>
                    <a:p>
                      <a:pPr indent="0" marL="0">
                        <a:buNone/>
                      </a:pPr>
                      <a:r>
                        <a:rPr lang="en-US" sz="1400" dirty="0">
                          <a:solidFill>
                            <a:srgbClr val="242A44"/>
                          </a:solidFill>
                          <a:latin typeface="Calibri" pitchFamily="34" charset="0"/>
                          <a:ea typeface="Calibri" pitchFamily="34" charset="-122"/>
                          <a:cs typeface="Calibri" pitchFamily="34" charset="-120"/>
                        </a:rPr>
                        <a:t>Trazabilidad</a:t>
                      </a:r>
                      <a:endParaRPr lang="en-US" sz="1400" dirty="0">
                        <a:latin typeface="Calibri" charset="0"/>
                        <a:ea typeface="Calibri" charset="0"/>
                        <a:cs typeface="Calibri" charset="0"/>
                      </a:endParaRPr>
                    </a:p>
                  </a:txBody>
                  <a:tcPr marL="91440" marR="91440" marT="45720" marB="45720">
                    <a:lnL w="12700" cap="flat" cmpd="sng" algn="ctr">
                      <a:solidFill>
                        <a:srgbClr val="EEF1F8"/>
                      </a:solidFill>
                      <a:prstDash val="solid"/>
                      <a:round/>
                      <a:headEnd type="none" w="med" len="med"/>
                      <a:tailEnd type="none" w="med" len="med"/>
                    </a:lnL>
                    <a:lnR w="12700" cap="flat" cmpd="sng" algn="ctr">
                      <a:solidFill>
                        <a:srgbClr val="EEF1F8"/>
                      </a:solidFill>
                      <a:prstDash val="solid"/>
                      <a:round/>
                      <a:headEnd type="none" w="med" len="med"/>
                      <a:tailEnd type="none" w="med" len="med"/>
                    </a:lnR>
                    <a:lnT w="12700" cap="flat" cmpd="sng" algn="ctr">
                      <a:solidFill>
                        <a:srgbClr val="EEF1F8"/>
                      </a:solidFill>
                      <a:prstDash val="solid"/>
                      <a:round/>
                      <a:headEnd type="none" w="med" len="med"/>
                      <a:tailEnd type="none" w="med" len="med"/>
                    </a:lnT>
                    <a:lnB w="12700" cap="flat" cmpd="sng" algn="ctr">
                      <a:solidFill>
                        <a:srgbClr val="EEF1F8"/>
                      </a:solidFill>
                      <a:prstDash val="solid"/>
                      <a:round/>
                      <a:headEnd type="none" w="med" len="med"/>
                      <a:tailEnd type="none" w="med" len="med"/>
                    </a:lnB>
                  </a:tcPr>
                </a:tc>
                <a:tc>
                  <a:txBody>
                    <a:bodyPr/>
                    <a:lstStyle/>
                    <a:p>
                      <a:pPr indent="0" marL="0">
                        <a:buNone/>
                      </a:pPr>
                      <a:r>
                        <a:rPr lang="en-US" sz="1400" dirty="0">
                          <a:solidFill>
                            <a:srgbClr val="242A44"/>
                          </a:solidFill>
                          <a:latin typeface="Calibri" pitchFamily="34" charset="0"/>
                          <a:ea typeface="Calibri" pitchFamily="34" charset="-122"/>
                          <a:cs typeface="Calibri" pitchFamily="34" charset="-120"/>
                        </a:rPr>
                        <a:t>Rara vez se cita el artículo</a:t>
                      </a:r>
                      <a:endParaRPr lang="en-US" sz="1400" dirty="0">
                        <a:latin typeface="Calibri" charset="0"/>
                        <a:ea typeface="Calibri" charset="0"/>
                        <a:cs typeface="Calibri" charset="0"/>
                      </a:endParaRPr>
                    </a:p>
                  </a:txBody>
                  <a:tcPr marL="91440" marR="91440" marT="45720" marB="45720">
                    <a:lnL w="12700" cap="flat" cmpd="sng" algn="ctr">
                      <a:solidFill>
                        <a:srgbClr val="EEF1F8"/>
                      </a:solidFill>
                      <a:prstDash val="solid"/>
                      <a:round/>
                      <a:headEnd type="none" w="med" len="med"/>
                      <a:tailEnd type="none" w="med" len="med"/>
                    </a:lnL>
                    <a:lnR w="12700" cap="flat" cmpd="sng" algn="ctr">
                      <a:solidFill>
                        <a:srgbClr val="EEF1F8"/>
                      </a:solidFill>
                      <a:prstDash val="solid"/>
                      <a:round/>
                      <a:headEnd type="none" w="med" len="med"/>
                      <a:tailEnd type="none" w="med" len="med"/>
                    </a:lnR>
                    <a:lnT w="12700" cap="flat" cmpd="sng" algn="ctr">
                      <a:solidFill>
                        <a:srgbClr val="EEF1F8"/>
                      </a:solidFill>
                      <a:prstDash val="solid"/>
                      <a:round/>
                      <a:headEnd type="none" w="med" len="med"/>
                      <a:tailEnd type="none" w="med" len="med"/>
                    </a:lnT>
                    <a:lnB w="12700" cap="flat" cmpd="sng" algn="ctr">
                      <a:solidFill>
                        <a:srgbClr val="EEF1F8"/>
                      </a:solidFill>
                      <a:prstDash val="solid"/>
                      <a:round/>
                      <a:headEnd type="none" w="med" len="med"/>
                      <a:tailEnd type="none" w="med" len="med"/>
                    </a:lnB>
                  </a:tcPr>
                </a:tc>
                <a:tc>
                  <a:txBody>
                    <a:bodyPr/>
                    <a:lstStyle/>
                    <a:p>
                      <a:pPr indent="0" marL="0">
                        <a:buNone/>
                      </a:pPr>
                      <a:r>
                        <a:rPr lang="en-US" sz="1400" dirty="0">
                          <a:solidFill>
                            <a:srgbClr val="242A44"/>
                          </a:solidFill>
                          <a:latin typeface="Calibri" pitchFamily="34" charset="0"/>
                          <a:ea typeface="Calibri" pitchFamily="34" charset="-122"/>
                          <a:cs typeface="Calibri" pitchFamily="34" charset="-120"/>
                        </a:rPr>
                        <a:t>Cada veredicto cita artículo y documento</a:t>
                      </a:r>
                      <a:endParaRPr lang="en-US" sz="1400" dirty="0">
                        <a:latin typeface="Calibri" charset="0"/>
                        <a:ea typeface="Calibri" charset="0"/>
                        <a:cs typeface="Calibri" charset="0"/>
                      </a:endParaRPr>
                    </a:p>
                  </a:txBody>
                  <a:tcPr marL="91440" marR="91440" marT="45720" marB="45720">
                    <a:lnL w="12700" cap="flat" cmpd="sng" algn="ctr">
                      <a:solidFill>
                        <a:srgbClr val="EEF1F8"/>
                      </a:solidFill>
                      <a:prstDash val="solid"/>
                      <a:round/>
                      <a:headEnd type="none" w="med" len="med"/>
                      <a:tailEnd type="none" w="med" len="med"/>
                    </a:lnL>
                    <a:lnR w="12700" cap="flat" cmpd="sng" algn="ctr">
                      <a:solidFill>
                        <a:srgbClr val="EEF1F8"/>
                      </a:solidFill>
                      <a:prstDash val="solid"/>
                      <a:round/>
                      <a:headEnd type="none" w="med" len="med"/>
                      <a:tailEnd type="none" w="med" len="med"/>
                    </a:lnR>
                    <a:lnT w="12700" cap="flat" cmpd="sng" algn="ctr">
                      <a:solidFill>
                        <a:srgbClr val="EEF1F8"/>
                      </a:solidFill>
                      <a:prstDash val="solid"/>
                      <a:round/>
                      <a:headEnd type="none" w="med" len="med"/>
                      <a:tailEnd type="none" w="med" len="med"/>
                    </a:lnT>
                    <a:lnB w="12700" cap="flat" cmpd="sng" algn="ctr">
                      <a:solidFill>
                        <a:srgbClr val="EEF1F8"/>
                      </a:solidFill>
                      <a:prstDash val="solid"/>
                      <a:round/>
                      <a:headEnd type="none" w="med" len="med"/>
                      <a:tailEnd type="none" w="med" len="med"/>
                    </a:lnB>
                  </a:tcPr>
                </a:tc>
              </a:tr>
              <a:tr h="841248">
                <a:tc>
                  <a:txBody>
                    <a:bodyPr/>
                    <a:lstStyle/>
                    <a:p>
                      <a:pPr indent="0" marL="0">
                        <a:buNone/>
                      </a:pPr>
                      <a:r>
                        <a:rPr lang="en-US" sz="1400" dirty="0">
                          <a:solidFill>
                            <a:srgbClr val="242A44"/>
                          </a:solidFill>
                          <a:latin typeface="Calibri" pitchFamily="34" charset="0"/>
                          <a:ea typeface="Calibri" pitchFamily="34" charset="-122"/>
                          <a:cs typeface="Calibri" pitchFamily="34" charset="-120"/>
                        </a:rPr>
                        <a:t>Entrada</a:t>
                      </a:r>
                      <a:endParaRPr lang="en-US" sz="1400" dirty="0">
                        <a:latin typeface="Calibri" charset="0"/>
                        <a:ea typeface="Calibri" charset="0"/>
                        <a:cs typeface="Calibri" charset="0"/>
                      </a:endParaRPr>
                    </a:p>
                  </a:txBody>
                  <a:tcPr marL="91440" marR="91440" marT="45720" marB="45720">
                    <a:lnL w="12700" cap="flat" cmpd="sng" algn="ctr">
                      <a:solidFill>
                        <a:srgbClr val="EEF1F8"/>
                      </a:solidFill>
                      <a:prstDash val="solid"/>
                      <a:round/>
                      <a:headEnd type="none" w="med" len="med"/>
                      <a:tailEnd type="none" w="med" len="med"/>
                    </a:lnL>
                    <a:lnR w="12700" cap="flat" cmpd="sng" algn="ctr">
                      <a:solidFill>
                        <a:srgbClr val="EEF1F8"/>
                      </a:solidFill>
                      <a:prstDash val="solid"/>
                      <a:round/>
                      <a:headEnd type="none" w="med" len="med"/>
                      <a:tailEnd type="none" w="med" len="med"/>
                    </a:lnR>
                    <a:lnT w="12700" cap="flat" cmpd="sng" algn="ctr">
                      <a:solidFill>
                        <a:srgbClr val="EEF1F8"/>
                      </a:solidFill>
                      <a:prstDash val="solid"/>
                      <a:round/>
                      <a:headEnd type="none" w="med" len="med"/>
                      <a:tailEnd type="none" w="med" len="med"/>
                    </a:lnT>
                    <a:lnB w="12700" cap="flat" cmpd="sng" algn="ctr">
                      <a:solidFill>
                        <a:srgbClr val="EEF1F8"/>
                      </a:solidFill>
                      <a:prstDash val="solid"/>
                      <a:round/>
                      <a:headEnd type="none" w="med" len="med"/>
                      <a:tailEnd type="none" w="med" len="med"/>
                    </a:lnB>
                  </a:tcPr>
                </a:tc>
                <a:tc>
                  <a:txBody>
                    <a:bodyPr/>
                    <a:lstStyle/>
                    <a:p>
                      <a:pPr indent="0" marL="0">
                        <a:buNone/>
                      </a:pPr>
                      <a:r>
                        <a:rPr lang="en-US" sz="1400" dirty="0">
                          <a:solidFill>
                            <a:srgbClr val="242A44"/>
                          </a:solidFill>
                          <a:latin typeface="Calibri" pitchFamily="34" charset="0"/>
                          <a:ea typeface="Calibri" pitchFamily="34" charset="-122"/>
                          <a:cs typeface="Calibri" pitchFamily="34" charset="-120"/>
                        </a:rPr>
                        <a:t>Solo lectura manual</a:t>
                      </a:r>
                      <a:endParaRPr lang="en-US" sz="1400" dirty="0">
                        <a:latin typeface="Calibri" charset="0"/>
                        <a:ea typeface="Calibri" charset="0"/>
                        <a:cs typeface="Calibri" charset="0"/>
                      </a:endParaRPr>
                    </a:p>
                  </a:txBody>
                  <a:tcPr marL="91440" marR="91440" marT="45720" marB="45720">
                    <a:lnL w="12700" cap="flat" cmpd="sng" algn="ctr">
                      <a:solidFill>
                        <a:srgbClr val="EEF1F8"/>
                      </a:solidFill>
                      <a:prstDash val="solid"/>
                      <a:round/>
                      <a:headEnd type="none" w="med" len="med"/>
                      <a:tailEnd type="none" w="med" len="med"/>
                    </a:lnL>
                    <a:lnR w="12700" cap="flat" cmpd="sng" algn="ctr">
                      <a:solidFill>
                        <a:srgbClr val="EEF1F8"/>
                      </a:solidFill>
                      <a:prstDash val="solid"/>
                      <a:round/>
                      <a:headEnd type="none" w="med" len="med"/>
                      <a:tailEnd type="none" w="med" len="med"/>
                    </a:lnR>
                    <a:lnT w="12700" cap="flat" cmpd="sng" algn="ctr">
                      <a:solidFill>
                        <a:srgbClr val="EEF1F8"/>
                      </a:solidFill>
                      <a:prstDash val="solid"/>
                      <a:round/>
                      <a:headEnd type="none" w="med" len="med"/>
                      <a:tailEnd type="none" w="med" len="med"/>
                    </a:lnT>
                    <a:lnB w="12700" cap="flat" cmpd="sng" algn="ctr">
                      <a:solidFill>
                        <a:srgbClr val="EEF1F8"/>
                      </a:solidFill>
                      <a:prstDash val="solid"/>
                      <a:round/>
                      <a:headEnd type="none" w="med" len="med"/>
                      <a:tailEnd type="none" w="med" len="med"/>
                    </a:lnB>
                  </a:tcPr>
                </a:tc>
                <a:tc>
                  <a:txBody>
                    <a:bodyPr/>
                    <a:lstStyle/>
                    <a:p>
                      <a:pPr indent="0" marL="0">
                        <a:buNone/>
                      </a:pPr>
                      <a:r>
                        <a:rPr lang="en-US" sz="1400" dirty="0">
                          <a:solidFill>
                            <a:srgbClr val="242A44"/>
                          </a:solidFill>
                          <a:latin typeface="Calibri" pitchFamily="34" charset="0"/>
                          <a:ea typeface="Calibri" pitchFamily="34" charset="-122"/>
                          <a:cs typeface="Calibri" pitchFamily="34" charset="-120"/>
                        </a:rPr>
                        <a:t>Texto pegado o archivo Word (.docx)</a:t>
                      </a:r>
                      <a:endParaRPr lang="en-US" sz="1400" dirty="0">
                        <a:latin typeface="Calibri" charset="0"/>
                        <a:ea typeface="Calibri" charset="0"/>
                        <a:cs typeface="Calibri" charset="0"/>
                      </a:endParaRPr>
                    </a:p>
                  </a:txBody>
                  <a:tcPr marL="91440" marR="91440" marT="45720" marB="45720">
                    <a:lnL w="12700" cap="flat" cmpd="sng" algn="ctr">
                      <a:solidFill>
                        <a:srgbClr val="EEF1F8"/>
                      </a:solidFill>
                      <a:prstDash val="solid"/>
                      <a:round/>
                      <a:headEnd type="none" w="med" len="med"/>
                      <a:tailEnd type="none" w="med" len="med"/>
                    </a:lnL>
                    <a:lnR w="12700" cap="flat" cmpd="sng" algn="ctr">
                      <a:solidFill>
                        <a:srgbClr val="EEF1F8"/>
                      </a:solidFill>
                      <a:prstDash val="solid"/>
                      <a:round/>
                      <a:headEnd type="none" w="med" len="med"/>
                      <a:tailEnd type="none" w="med" len="med"/>
                    </a:lnR>
                    <a:lnT w="12700" cap="flat" cmpd="sng" algn="ctr">
                      <a:solidFill>
                        <a:srgbClr val="EEF1F8"/>
                      </a:solidFill>
                      <a:prstDash val="solid"/>
                      <a:round/>
                      <a:headEnd type="none" w="med" len="med"/>
                      <a:tailEnd type="none" w="med" len="med"/>
                    </a:lnT>
                    <a:lnB w="12700" cap="flat" cmpd="sng" algn="ctr">
                      <a:solidFill>
                        <a:srgbClr val="EEF1F8"/>
                      </a:solidFill>
                      <a:prstDash val="solid"/>
                      <a:round/>
                      <a:headEnd type="none" w="med" len="med"/>
                      <a:tailEnd type="none" w="med" len="med"/>
                    </a:lnB>
                  </a:tcPr>
                </a:tc>
              </a:tr>
            </a:tbl>
          </a:graphicData>
        </a:graphic>
      </p:graphicFrame>
      <p:sp>
        <p:nvSpPr>
          <p:cNvPr id="4" name="Text 0"/>
          <p:cNvSpPr/>
          <p:nvPr>
            <p:ph idx="101" type="body" hasCustomPrompt="1"/>
          </p:nvPr>
        </p:nvSpPr>
        <p:spPr>
          <a:xfrm>
            <a:off x="640080" y="1463040"/>
            <a:ext cx="10881360" cy="4846320"/>
          </a:xfrm>
          <a:prstGeom prst="rect">
            <a:avLst/>
          </a:prstGeom>
          <a:noFill/>
          <a:ln/>
        </p:spPr>
        <p:txBody>
          <a:bodyPr wrap="square" rtlCol="0"/>
          <a:lstStyle/>
          <a:p>
            <a:pPr algn="l" indent="0" marL="0">
              <a:buNone/>
            </a:pPr>
            <a:endParaRPr lang="en-US" sz="1600" dirty="0"/>
          </a:p>
        </p:txBody>
      </p:sp>
      <p:sp>
        <p:nvSpPr>
          <p:cNvPr id="5" name="Text 1"/>
          <p:cNvSpPr/>
          <p:nvPr>
            <p:ph idx="103" type="body" hasCustomPrompt="1"/>
          </p:nvPr>
        </p:nvSpPr>
        <p:spPr>
          <a:xfrm>
            <a:off x="11430000" y="6492240"/>
            <a:ext cx="548640" cy="274320"/>
          </a:xfrm>
          <a:prstGeom prst="rect">
            <a:avLst/>
          </a:prstGeom>
          <a:noFill/>
          <a:ln/>
        </p:spPr>
        <p:txBody>
          <a:bodyPr wrap="square" rtlCol="0"/>
          <a:lstStyle/>
          <a:p>
            <a:pPr indent="0" marL="0">
              <a:buNone/>
            </a:pPr>
            <a:endParaRPr lang="en-US" dirty="0"/>
          </a:p>
        </p:txBody>
      </p:sp>
      <p:sp>
        <p:nvSpPr>
          <p:cNvPr id="25" name="Slide Number Placeholder 0"/>
          <p:cNvSpPr>
            <a:spLocks noGrp="1"/>
          </p:cNvSpPr>
          <p:nvPr>
            <p:ph type="sldNum" sz="quarter" idx="4294967295"/>
          </p:nvPr>
        </p:nvSpPr>
        <p:spPr>
          <a:xfrm>
            <a:off x="11521440" y="649224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7728F"/>
                </a:solidFill>
                <a:latin typeface="Calibri"/>
                <a:ea typeface="Calibri"/>
                <a:cs typeface="Calibri"/>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640080" y="457200"/>
            <a:ext cx="10881360" cy="822960"/>
          </a:xfrm>
          <a:prstGeom prst="rect">
            <a:avLst/>
          </a:prstGeom>
          <a:noFill/>
          <a:ln/>
        </p:spPr>
        <p:txBody>
          <a:bodyPr wrap="square" rtlCol="0"/>
          <a:lstStyle/>
          <a:p>
            <a:pPr algn="l" indent="0" marL="0">
              <a:buNone/>
            </a:pPr>
            <a:r>
              <a:rPr lang="en-US" sz="3000" b="1" dirty="0">
                <a:solidFill>
                  <a:srgbClr val="121526"/>
                </a:solidFill>
                <a:latin typeface="Cambria" pitchFamily="34" charset="0"/>
                <a:ea typeface="Cambria" pitchFamily="34" charset="-122"/>
                <a:cs typeface="Cambria" pitchFamily="34" charset="-120"/>
              </a:rPr>
              <a:t>La solución: RAG fundamentado en el corpus real de normativa de la UTE</a:t>
            </a:r>
            <a:endParaRPr lang="en-US" sz="3000" dirty="0"/>
          </a:p>
        </p:txBody>
      </p:sp>
      <p:sp>
        <p:nvSpPr>
          <p:cNvPr id="3" name="Text 1"/>
          <p:cNvSpPr txBox="1"/>
          <p:nvPr/>
        </p:nvSpPr>
        <p:spPr>
          <a:xfrm>
            <a:off x="640080" y="1554480"/>
            <a:ext cx="6400800" cy="4389120"/>
          </a:xfrm>
          <a:prstGeom prst="rect">
            <a:avLst/>
          </a:prstGeom>
          <a:noFill/>
          <a:ln/>
        </p:spPr>
        <p:txBody>
          <a:bodyPr wrap="square" lIns="0" tIns="0" rIns="0" bIns="0" rtlCol="0" anchor="t"/>
          <a:lstStyle/>
          <a:p>
            <a:pPr marL="342900" indent="-342900">
              <a:spcAft>
                <a:spcPts val="1400"/>
              </a:spcAft>
              <a:buSzPct val="100000"/>
              <a:buChar char="•"/>
            </a:pPr>
            <a:r>
              <a:rPr lang="en-US" sz="1500" dirty="0">
                <a:solidFill>
                  <a:srgbClr val="242A44"/>
                </a:solidFill>
                <a:latin typeface="Calibri" pitchFamily="34" charset="0"/>
                <a:ea typeface="Calibri" pitchFamily="34" charset="-122"/>
                <a:cs typeface="Calibri" pitchFamily="34" charset="-120"/>
              </a:rPr>
              <a:t>Por cada criterio del checklist, el sistema recupera los 3 fragmentos de normativa más relevantes y le pide al modelo un veredicto citando el artículo exacto.</a:t>
            </a:r>
            <a:endParaRPr lang="en-US" sz="1500" dirty="0"/>
          </a:p>
          <a:p>
            <a:pPr marL="342900" indent="-342900">
              <a:spcAft>
                <a:spcPts val="1400"/>
              </a:spcAft>
              <a:buSzPct val="100000"/>
              <a:buChar char="•"/>
            </a:pPr>
            <a:r>
              <a:rPr lang="en-US" sz="1500" dirty="0">
                <a:solidFill>
                  <a:srgbClr val="242A44"/>
                </a:solidFill>
                <a:latin typeface="Calibri" pitchFamily="34" charset="0"/>
                <a:ea typeface="Calibri" pitchFamily="34" charset="-122"/>
                <a:cs typeface="Calibri" pitchFamily="34" charset="-120"/>
              </a:rPr>
              <a:t>No es ML (Machine Learning: aprendizaje automático supervisado) clásico ni un agente con herramientas externas: es RAG — recuperación híbrida (semántica + BM25, un algoritmo clásico de ranking por palabra clave) fusionada con RRF (Reciprocal Rank Fusion), más generación grounded, comparado en vivo contra un baseline sin recuperación.</a:t>
            </a:r>
            <a:endParaRPr lang="en-US" sz="1500" dirty="0"/>
          </a:p>
          <a:p>
            <a:pPr marL="342900" indent="-342900">
              <a:buSzPct val="100000"/>
              <a:buChar char="•"/>
            </a:pPr>
            <a:r>
              <a:rPr lang="en-US" sz="1500" dirty="0">
                <a:solidFill>
                  <a:srgbClr val="242A44"/>
                </a:solidFill>
                <a:latin typeface="Calibri" pitchFamily="34" charset="0"/>
                <a:ea typeface="Calibri" pitchFamily="34" charset="-122"/>
                <a:cs typeface="Calibri" pitchFamily="34" charset="-120"/>
              </a:rPr>
              <a:t>El mismo motor de recuperación refuerza, como mejora secundaria, las pistas del AI Tutor ya existente en la plataforma.</a:t>
            </a:r>
            <a:endParaRPr lang="en-US" sz="1500" dirty="0"/>
          </a:p>
        </p:txBody>
      </p:sp>
      <p:sp>
        <p:nvSpPr>
          <p:cNvPr id="4" name="Shape 2"/>
          <p:cNvSpPr/>
          <p:nvPr/>
        </p:nvSpPr>
        <p:spPr>
          <a:xfrm>
            <a:off x="7406640" y="1554480"/>
            <a:ext cx="4114800" cy="1920240"/>
          </a:xfrm>
          <a:prstGeom prst="roundRect">
            <a:avLst>
              <a:gd name="adj" fmla="val 3810"/>
            </a:avLst>
          </a:prstGeom>
          <a:solidFill>
            <a:srgbClr val="EEF1F8"/>
          </a:solidFill>
          <a:ln/>
          <a:effectLst>
            <a:outerShdw sx="100000" sy="100000" kx="0" ky="0" algn="bl" rotWithShape="0" blurRad="76200" dist="25400" dir="5400000">
              <a:srgbClr val="000000">
                <a:alpha val="12000"/>
              </a:srgbClr>
            </a:outerShdw>
          </a:effectLst>
        </p:spPr>
      </p:sp>
      <p:sp>
        <p:nvSpPr>
          <p:cNvPr id="5" name="Shape 3"/>
          <p:cNvSpPr/>
          <p:nvPr/>
        </p:nvSpPr>
        <p:spPr>
          <a:xfrm>
            <a:off x="7635240" y="1783080"/>
            <a:ext cx="384048" cy="384048"/>
          </a:xfrm>
          <a:prstGeom prst="ellipse">
            <a:avLst/>
          </a:prstGeom>
          <a:solidFill>
            <a:srgbClr val="1AA3AF"/>
          </a:solidFill>
          <a:ln/>
        </p:spPr>
      </p:sp>
      <p:sp>
        <p:nvSpPr>
          <p:cNvPr id="6" name="Text 4"/>
          <p:cNvSpPr txBox="1"/>
          <p:nvPr/>
        </p:nvSpPr>
        <p:spPr>
          <a:xfrm>
            <a:off x="8138160" y="1755648"/>
            <a:ext cx="3200400" cy="457200"/>
          </a:xfrm>
          <a:prstGeom prst="rect">
            <a:avLst/>
          </a:prstGeom>
          <a:noFill/>
          <a:ln/>
        </p:spPr>
        <p:txBody>
          <a:bodyPr wrap="square" lIns="0" tIns="0" rIns="0" bIns="0" rtlCol="0" anchor="ctr"/>
          <a:lstStyle/>
          <a:p>
            <a:pPr indent="0" marL="0">
              <a:buNone/>
            </a:pPr>
            <a:r>
              <a:rPr lang="en-US" sz="1500" b="1" dirty="0">
                <a:solidFill>
                  <a:srgbClr val="121526"/>
                </a:solidFill>
                <a:latin typeface="Cambria" pitchFamily="34" charset="0"/>
                <a:ea typeface="Cambria" pitchFamily="34" charset="-122"/>
                <a:cs typeface="Cambria" pitchFamily="34" charset="-120"/>
              </a:rPr>
              <a:t>¿Por qué IA?</a:t>
            </a:r>
            <a:endParaRPr lang="en-US" sz="1500" dirty="0"/>
          </a:p>
        </p:txBody>
      </p:sp>
      <p:sp>
        <p:nvSpPr>
          <p:cNvPr id="7" name="Text 5"/>
          <p:cNvSpPr txBox="1"/>
          <p:nvPr/>
        </p:nvSpPr>
        <p:spPr>
          <a:xfrm>
            <a:off x="7680960" y="2304288"/>
            <a:ext cx="3566160" cy="1005840"/>
          </a:xfrm>
          <a:prstGeom prst="rect">
            <a:avLst/>
          </a:prstGeom>
          <a:noFill/>
          <a:ln/>
        </p:spPr>
        <p:txBody>
          <a:bodyPr wrap="square" lIns="0" tIns="0" rIns="0" bIns="0" rtlCol="0" anchor="t"/>
          <a:lstStyle/>
          <a:p>
            <a:pPr indent="0" marL="0">
              <a:buNone/>
            </a:pPr>
            <a:r>
              <a:rPr lang="en-US" sz="1200" dirty="0">
                <a:solidFill>
                  <a:srgbClr val="242A44"/>
                </a:solidFill>
                <a:latin typeface="Calibri" pitchFamily="34" charset="0"/>
                <a:ea typeface="Calibri" pitchFamily="34" charset="-122"/>
                <a:cs typeface="Calibri" pitchFamily="34" charset="-120"/>
              </a:rPr>
              <a:t>El lenguaje de un sílabo es libre — una regla de palabras clave no basta; se necesita entender equivalencias semánticas y explicar en lenguaje natural.</a:t>
            </a:r>
            <a:endParaRPr lang="en-US" sz="1200" dirty="0"/>
          </a:p>
        </p:txBody>
      </p:sp>
      <p:sp>
        <p:nvSpPr>
          <p:cNvPr id="8" name="Shape 6"/>
          <p:cNvSpPr/>
          <p:nvPr/>
        </p:nvSpPr>
        <p:spPr>
          <a:xfrm>
            <a:off x="7406640" y="3840480"/>
            <a:ext cx="4114800" cy="2103120"/>
          </a:xfrm>
          <a:prstGeom prst="roundRect">
            <a:avLst>
              <a:gd name="adj" fmla="val 3478"/>
            </a:avLst>
          </a:prstGeom>
          <a:solidFill>
            <a:srgbClr val="EEF1F8"/>
          </a:solidFill>
          <a:ln/>
          <a:effectLst>
            <a:outerShdw sx="100000" sy="100000" kx="0" ky="0" algn="bl" rotWithShape="0" blurRad="76200" dist="25400" dir="5400000">
              <a:srgbClr val="000000">
                <a:alpha val="12000"/>
              </a:srgbClr>
            </a:outerShdw>
          </a:effectLst>
        </p:spPr>
      </p:sp>
      <p:sp>
        <p:nvSpPr>
          <p:cNvPr id="9" name="Shape 7"/>
          <p:cNvSpPr/>
          <p:nvPr/>
        </p:nvSpPr>
        <p:spPr>
          <a:xfrm>
            <a:off x="7635240" y="4069080"/>
            <a:ext cx="384048" cy="384048"/>
          </a:xfrm>
          <a:prstGeom prst="ellipse">
            <a:avLst/>
          </a:prstGeom>
          <a:solidFill>
            <a:srgbClr val="414C74"/>
          </a:solidFill>
          <a:ln/>
        </p:spPr>
      </p:sp>
      <p:sp>
        <p:nvSpPr>
          <p:cNvPr id="10" name="Text 8"/>
          <p:cNvSpPr txBox="1"/>
          <p:nvPr/>
        </p:nvSpPr>
        <p:spPr>
          <a:xfrm>
            <a:off x="8138160" y="4041648"/>
            <a:ext cx="3200400" cy="457200"/>
          </a:xfrm>
          <a:prstGeom prst="rect">
            <a:avLst/>
          </a:prstGeom>
          <a:noFill/>
          <a:ln/>
        </p:spPr>
        <p:txBody>
          <a:bodyPr wrap="square" lIns="0" tIns="0" rIns="0" bIns="0" rtlCol="0" anchor="ctr"/>
          <a:lstStyle/>
          <a:p>
            <a:pPr indent="0" marL="0">
              <a:buNone/>
            </a:pPr>
            <a:r>
              <a:rPr lang="en-US" sz="1500" b="1" dirty="0">
                <a:solidFill>
                  <a:srgbClr val="121526"/>
                </a:solidFill>
                <a:latin typeface="Cambria" pitchFamily="34" charset="0"/>
                <a:ea typeface="Cambria" pitchFamily="34" charset="-122"/>
                <a:cs typeface="Cambria" pitchFamily="34" charset="-120"/>
              </a:rPr>
              <a:t>Veredictos posibles</a:t>
            </a:r>
            <a:endParaRPr lang="en-US" sz="1500" dirty="0"/>
          </a:p>
        </p:txBody>
      </p:sp>
      <p:sp>
        <p:nvSpPr>
          <p:cNvPr id="11" name="Text 9"/>
          <p:cNvSpPr txBox="1"/>
          <p:nvPr/>
        </p:nvSpPr>
        <p:spPr>
          <a:xfrm>
            <a:off x="7680960" y="4590288"/>
            <a:ext cx="3566160" cy="1188720"/>
          </a:xfrm>
          <a:prstGeom prst="rect">
            <a:avLst/>
          </a:prstGeom>
          <a:noFill/>
          <a:ln/>
        </p:spPr>
        <p:txBody>
          <a:bodyPr wrap="square" lIns="0" tIns="0" rIns="0" bIns="0" rtlCol="0" anchor="t"/>
          <a:lstStyle/>
          <a:p>
            <a:pPr indent="0" marL="0">
              <a:buNone/>
            </a:pPr>
            <a:r>
              <a:rPr lang="en-US" sz="1200" dirty="0">
                <a:solidFill>
                  <a:srgbClr val="242A44"/>
                </a:solidFill>
                <a:latin typeface="Calibri" pitchFamily="34" charset="0"/>
                <a:ea typeface="Calibri" pitchFamily="34" charset="-122"/>
                <a:cs typeface="Calibri" pitchFamily="34" charset="-120"/>
              </a:rPr>
              <a:t>CUMPLE · NO_CUMPLE · NO_DETERMINADO — el sistema nunca inventa cumplimiento sin evidencia recuperada.</a:t>
            </a:r>
            <a:endParaRPr lang="en-US" sz="1200" dirty="0"/>
          </a:p>
        </p:txBody>
      </p:sp>
      <p:sp>
        <p:nvSpPr>
          <p:cNvPr id="25" name="Slide Number Placeholder 0"/>
          <p:cNvSpPr>
            <a:spLocks noGrp="1"/>
          </p:cNvSpPr>
          <p:nvPr>
            <p:ph type="sldNum" sz="quarter" idx="4294967295"/>
          </p:nvPr>
        </p:nvSpPr>
        <p:spPr>
          <a:xfrm>
            <a:off x="11521440" y="649224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7728F"/>
                </a:solidFill>
                <a:latin typeface="Calibri"/>
                <a:ea typeface="Calibri"/>
                <a:cs typeface="Calibri"/>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640080" y="457200"/>
            <a:ext cx="10881360" cy="822960"/>
          </a:xfrm>
          <a:prstGeom prst="rect">
            <a:avLst/>
          </a:prstGeom>
          <a:noFill/>
          <a:ln/>
        </p:spPr>
        <p:txBody>
          <a:bodyPr wrap="square" rtlCol="0"/>
          <a:lstStyle/>
          <a:p>
            <a:pPr algn="l" indent="0" marL="0">
              <a:buNone/>
            </a:pPr>
            <a:r>
              <a:rPr lang="en-US" sz="3000" b="1" dirty="0">
                <a:solidFill>
                  <a:srgbClr val="121526"/>
                </a:solidFill>
                <a:latin typeface="Cambria" pitchFamily="34" charset="0"/>
                <a:ea typeface="Cambria" pitchFamily="34" charset="-122"/>
                <a:cs typeface="Cambria" pitchFamily="34" charset="-120"/>
              </a:rPr>
              <a:t>Arquitectura: cómputo real en el HPC de CEDIA, servido desde el VPS de producción</a:t>
            </a:r>
            <a:endParaRPr lang="en-US" sz="3000" dirty="0"/>
          </a:p>
        </p:txBody>
      </p:sp>
      <p:sp>
        <p:nvSpPr>
          <p:cNvPr id="3" name="Text 1"/>
          <p:cNvSpPr txBox="1"/>
          <p:nvPr/>
        </p:nvSpPr>
        <p:spPr>
          <a:xfrm>
            <a:off x="640080" y="1371600"/>
            <a:ext cx="10881360" cy="274320"/>
          </a:xfrm>
          <a:prstGeom prst="rect">
            <a:avLst/>
          </a:prstGeom>
          <a:noFill/>
          <a:ln/>
        </p:spPr>
        <p:txBody>
          <a:bodyPr wrap="square" lIns="0" tIns="0" rIns="0" bIns="0" rtlCol="0" anchor="ctr"/>
          <a:lstStyle/>
          <a:p>
            <a:pPr indent="0" marL="0">
              <a:buNone/>
            </a:pPr>
            <a:r>
              <a:rPr lang="en-US" sz="1050" i="1" dirty="0">
                <a:solidFill>
                  <a:srgbClr val="67728F"/>
                </a:solidFill>
                <a:latin typeface="Calibri" pitchFamily="34" charset="0"/>
                <a:ea typeface="Calibri" pitchFamily="34" charset="-122"/>
                <a:cs typeface="Calibri" pitchFamily="34" charset="-120"/>
              </a:rPr>
              <a:t>HPC (cómputo de alto rendimiento)  ·  CEDIA (consorcio ecuatoriano de cómputo académico)  ·  VPS (servidor privado virtual)  ·  GPU/CPU (procesador gráfico / central)</a:t>
            </a:r>
            <a:endParaRPr lang="en-US" sz="1050" dirty="0"/>
          </a:p>
        </p:txBody>
      </p:sp>
      <p:sp>
        <p:nvSpPr>
          <p:cNvPr id="4" name="Shape 2"/>
          <p:cNvSpPr/>
          <p:nvPr/>
        </p:nvSpPr>
        <p:spPr>
          <a:xfrm>
            <a:off x="640080" y="1737360"/>
            <a:ext cx="4937760" cy="3931920"/>
          </a:xfrm>
          <a:prstGeom prst="roundRect">
            <a:avLst>
              <a:gd name="adj" fmla="val 2326"/>
            </a:avLst>
          </a:prstGeom>
          <a:solidFill>
            <a:srgbClr val="EEF1F8"/>
          </a:solidFill>
          <a:ln w="19050">
            <a:solidFill>
              <a:srgbClr val="414C74"/>
            </a:solidFill>
            <a:prstDash val="solid"/>
          </a:ln>
        </p:spPr>
      </p:sp>
      <p:sp>
        <p:nvSpPr>
          <p:cNvPr id="5" name="Text 3"/>
          <p:cNvSpPr txBox="1"/>
          <p:nvPr/>
        </p:nvSpPr>
        <p:spPr>
          <a:xfrm>
            <a:off x="822960" y="1874520"/>
            <a:ext cx="4572000" cy="365760"/>
          </a:xfrm>
          <a:prstGeom prst="rect">
            <a:avLst/>
          </a:prstGeom>
          <a:noFill/>
          <a:ln/>
        </p:spPr>
        <p:txBody>
          <a:bodyPr wrap="square" lIns="0" tIns="0" rIns="0" bIns="0" rtlCol="0" anchor="ctr"/>
          <a:lstStyle/>
          <a:p>
            <a:pPr indent="0" marL="0">
              <a:buNone/>
            </a:pPr>
            <a:r>
              <a:rPr lang="en-US" sz="1600" b="1" dirty="0">
                <a:solidFill>
                  <a:srgbClr val="121526"/>
                </a:solidFill>
                <a:latin typeface="Cambria" pitchFamily="34" charset="0"/>
                <a:ea typeface="Cambria" pitchFamily="34" charset="-122"/>
                <a:cs typeface="Cambria" pitchFamily="34" charset="-120"/>
              </a:rPr>
              <a:t>VPS de producción</a:t>
            </a:r>
            <a:endParaRPr lang="en-US" sz="1600" dirty="0"/>
          </a:p>
        </p:txBody>
      </p:sp>
      <p:sp>
        <p:nvSpPr>
          <p:cNvPr id="6" name="Shape 4"/>
          <p:cNvSpPr/>
          <p:nvPr/>
        </p:nvSpPr>
        <p:spPr>
          <a:xfrm>
            <a:off x="868680" y="2423160"/>
            <a:ext cx="4480560" cy="868680"/>
          </a:xfrm>
          <a:prstGeom prst="roundRect">
            <a:avLst>
              <a:gd name="adj" fmla="val 6316"/>
            </a:avLst>
          </a:prstGeom>
          <a:solidFill>
            <a:srgbClr val="FFFFFF"/>
          </a:solidFill>
          <a:ln/>
          <a:effectLst>
            <a:outerShdw sx="100000" sy="100000" kx="0" ky="0" algn="bl" rotWithShape="0" blurRad="50800" dist="12700" dir="5400000">
              <a:srgbClr val="000000">
                <a:alpha val="10000"/>
              </a:srgbClr>
            </a:outerShdw>
          </a:effectLst>
        </p:spPr>
      </p:sp>
      <p:sp>
        <p:nvSpPr>
          <p:cNvPr id="7" name="Text 5"/>
          <p:cNvSpPr txBox="1"/>
          <p:nvPr/>
        </p:nvSpPr>
        <p:spPr>
          <a:xfrm>
            <a:off x="1051560" y="2496312"/>
            <a:ext cx="4114800" cy="320040"/>
          </a:xfrm>
          <a:prstGeom prst="rect">
            <a:avLst/>
          </a:prstGeom>
          <a:noFill/>
          <a:ln/>
        </p:spPr>
        <p:txBody>
          <a:bodyPr wrap="square" lIns="0" tIns="0" rIns="0" bIns="0" rtlCol="0" anchor="ctr"/>
          <a:lstStyle/>
          <a:p>
            <a:pPr indent="0" marL="0">
              <a:buNone/>
            </a:pPr>
            <a:r>
              <a:rPr lang="en-US" sz="1300" b="1" dirty="0">
                <a:solidFill>
                  <a:srgbClr val="11838D"/>
                </a:solidFill>
                <a:latin typeface="Cambria" pitchFamily="34" charset="0"/>
                <a:ea typeface="Cambria" pitchFamily="34" charset="-122"/>
                <a:cs typeface="Cambria" pitchFamily="34" charset="-120"/>
              </a:rPr>
              <a:t>API FastAPI</a:t>
            </a:r>
            <a:endParaRPr lang="en-US" sz="1300" dirty="0"/>
          </a:p>
        </p:txBody>
      </p:sp>
      <p:sp>
        <p:nvSpPr>
          <p:cNvPr id="8" name="Text 6"/>
          <p:cNvSpPr txBox="1"/>
          <p:nvPr/>
        </p:nvSpPr>
        <p:spPr>
          <a:xfrm>
            <a:off x="1051560" y="2788920"/>
            <a:ext cx="4114800" cy="411480"/>
          </a:xfrm>
          <a:prstGeom prst="rect">
            <a:avLst/>
          </a:prstGeom>
          <a:noFill/>
          <a:ln/>
        </p:spPr>
        <p:txBody>
          <a:bodyPr wrap="square" lIns="0" tIns="0" rIns="0" bIns="0" rtlCol="0" anchor="ctr"/>
          <a:lstStyle/>
          <a:p>
            <a:pPr indent="0" marL="0">
              <a:buNone/>
            </a:pPr>
            <a:r>
              <a:rPr lang="en-US" sz="1050" dirty="0">
                <a:solidFill>
                  <a:srgbClr val="242A44"/>
                </a:solidFill>
                <a:latin typeface="Calibri" pitchFamily="34" charset="0"/>
                <a:ea typeface="Calibri" pitchFamily="34" charset="-122"/>
                <a:cs typeface="Calibri" pitchFamily="34" charset="-120"/>
              </a:rPr>
              <a:t>API (interfaz de programación): autenticación, permisos, endpoints RAG</a:t>
            </a:r>
            <a:endParaRPr lang="en-US" sz="1050" dirty="0"/>
          </a:p>
        </p:txBody>
      </p:sp>
      <p:sp>
        <p:nvSpPr>
          <p:cNvPr id="9" name="Shape 7"/>
          <p:cNvSpPr/>
          <p:nvPr/>
        </p:nvSpPr>
        <p:spPr>
          <a:xfrm>
            <a:off x="868680" y="3474720"/>
            <a:ext cx="4480560" cy="868680"/>
          </a:xfrm>
          <a:prstGeom prst="roundRect">
            <a:avLst>
              <a:gd name="adj" fmla="val 6316"/>
            </a:avLst>
          </a:prstGeom>
          <a:solidFill>
            <a:srgbClr val="FFFFFF"/>
          </a:solidFill>
          <a:ln/>
          <a:effectLst>
            <a:outerShdw sx="100000" sy="100000" kx="0" ky="0" algn="bl" rotWithShape="0" blurRad="50800" dist="12700" dir="5400000">
              <a:srgbClr val="000000">
                <a:alpha val="10000"/>
              </a:srgbClr>
            </a:outerShdw>
          </a:effectLst>
        </p:spPr>
      </p:sp>
      <p:sp>
        <p:nvSpPr>
          <p:cNvPr id="10" name="Text 8"/>
          <p:cNvSpPr txBox="1"/>
          <p:nvPr/>
        </p:nvSpPr>
        <p:spPr>
          <a:xfrm>
            <a:off x="1051560" y="3547872"/>
            <a:ext cx="4114800" cy="320040"/>
          </a:xfrm>
          <a:prstGeom prst="rect">
            <a:avLst/>
          </a:prstGeom>
          <a:noFill/>
          <a:ln/>
        </p:spPr>
        <p:txBody>
          <a:bodyPr wrap="square" lIns="0" tIns="0" rIns="0" bIns="0" rtlCol="0" anchor="ctr"/>
          <a:lstStyle/>
          <a:p>
            <a:pPr indent="0" marL="0">
              <a:buNone/>
            </a:pPr>
            <a:r>
              <a:rPr lang="en-US" sz="1300" b="1" dirty="0">
                <a:solidFill>
                  <a:srgbClr val="11838D"/>
                </a:solidFill>
                <a:latin typeface="Cambria" pitchFamily="34" charset="0"/>
                <a:ea typeface="Cambria" pitchFamily="34" charset="-122"/>
                <a:cs typeface="Cambria" pitchFamily="34" charset="-120"/>
              </a:rPr>
              <a:t>Frontend React</a:t>
            </a:r>
            <a:endParaRPr lang="en-US" sz="1300" dirty="0"/>
          </a:p>
        </p:txBody>
      </p:sp>
      <p:sp>
        <p:nvSpPr>
          <p:cNvPr id="11" name="Text 9"/>
          <p:cNvSpPr txBox="1"/>
          <p:nvPr/>
        </p:nvSpPr>
        <p:spPr>
          <a:xfrm>
            <a:off x="1051560" y="3840480"/>
            <a:ext cx="4114800" cy="411480"/>
          </a:xfrm>
          <a:prstGeom prst="rect">
            <a:avLst/>
          </a:prstGeom>
          <a:noFill/>
          <a:ln/>
        </p:spPr>
        <p:txBody>
          <a:bodyPr wrap="square" lIns="0" tIns="0" rIns="0" bIns="0" rtlCol="0" anchor="ctr"/>
          <a:lstStyle/>
          <a:p>
            <a:pPr indent="0" marL="0">
              <a:buNone/>
            </a:pPr>
            <a:r>
              <a:rPr lang="en-US" sz="1050" dirty="0">
                <a:solidFill>
                  <a:srgbClr val="242A44"/>
                </a:solidFill>
                <a:latin typeface="Calibri" pitchFamily="34" charset="0"/>
                <a:ea typeface="Calibri" pitchFamily="34" charset="-122"/>
                <a:cs typeface="Calibri" pitchFamily="34" charset="-120"/>
              </a:rPr>
              <a:t>4 idiomas, integrado al resto de la plataforma</a:t>
            </a:r>
            <a:endParaRPr lang="en-US" sz="1050" dirty="0"/>
          </a:p>
        </p:txBody>
      </p:sp>
      <p:sp>
        <p:nvSpPr>
          <p:cNvPr id="12" name="Shape 10"/>
          <p:cNvSpPr/>
          <p:nvPr/>
        </p:nvSpPr>
        <p:spPr>
          <a:xfrm>
            <a:off x="868680" y="4526280"/>
            <a:ext cx="4480560" cy="868680"/>
          </a:xfrm>
          <a:prstGeom prst="roundRect">
            <a:avLst>
              <a:gd name="adj" fmla="val 6316"/>
            </a:avLst>
          </a:prstGeom>
          <a:solidFill>
            <a:srgbClr val="FFFFFF"/>
          </a:solidFill>
          <a:ln/>
          <a:effectLst>
            <a:outerShdw sx="100000" sy="100000" kx="0" ky="0" algn="bl" rotWithShape="0" blurRad="50800" dist="12700" dir="5400000">
              <a:srgbClr val="000000">
                <a:alpha val="10000"/>
              </a:srgbClr>
            </a:outerShdw>
          </a:effectLst>
        </p:spPr>
      </p:sp>
      <p:sp>
        <p:nvSpPr>
          <p:cNvPr id="13" name="Text 11"/>
          <p:cNvSpPr txBox="1"/>
          <p:nvPr/>
        </p:nvSpPr>
        <p:spPr>
          <a:xfrm>
            <a:off x="1051560" y="4599432"/>
            <a:ext cx="4114800" cy="320040"/>
          </a:xfrm>
          <a:prstGeom prst="rect">
            <a:avLst/>
          </a:prstGeom>
          <a:noFill/>
          <a:ln/>
        </p:spPr>
        <p:txBody>
          <a:bodyPr wrap="square" lIns="0" tIns="0" rIns="0" bIns="0" rtlCol="0" anchor="ctr"/>
          <a:lstStyle/>
          <a:p>
            <a:pPr indent="0" marL="0">
              <a:buNone/>
            </a:pPr>
            <a:r>
              <a:rPr lang="en-US" sz="1300" b="1" dirty="0">
                <a:solidFill>
                  <a:srgbClr val="11838D"/>
                </a:solidFill>
                <a:latin typeface="Cambria" pitchFamily="34" charset="0"/>
                <a:ea typeface="Cambria" pitchFamily="34" charset="-122"/>
                <a:cs typeface="Cambria" pitchFamily="34" charset="-120"/>
              </a:rPr>
              <a:t>LanceDB + BM25 (896 vectores)</a:t>
            </a:r>
            <a:endParaRPr lang="en-US" sz="1300" dirty="0"/>
          </a:p>
        </p:txBody>
      </p:sp>
      <p:sp>
        <p:nvSpPr>
          <p:cNvPr id="14" name="Text 12"/>
          <p:cNvSpPr txBox="1"/>
          <p:nvPr/>
        </p:nvSpPr>
        <p:spPr>
          <a:xfrm>
            <a:off x="1051560" y="4892040"/>
            <a:ext cx="4114800" cy="411480"/>
          </a:xfrm>
          <a:prstGeom prst="rect">
            <a:avLst/>
          </a:prstGeom>
          <a:noFill/>
          <a:ln/>
        </p:spPr>
        <p:txBody>
          <a:bodyPr wrap="square" lIns="0" tIns="0" rIns="0" bIns="0" rtlCol="0" anchor="ctr"/>
          <a:lstStyle/>
          <a:p>
            <a:pPr indent="0" marL="0">
              <a:buNone/>
            </a:pPr>
            <a:r>
              <a:rPr lang="en-US" sz="1050" dirty="0">
                <a:solidFill>
                  <a:srgbClr val="242A44"/>
                </a:solidFill>
                <a:latin typeface="Calibri" pitchFamily="34" charset="0"/>
                <a:ea typeface="Calibri" pitchFamily="34" charset="-122"/>
                <a:cs typeface="Calibri" pitchFamily="34" charset="-120"/>
              </a:rPr>
              <a:t>Vector store embebido + índice de palabra clave, fusionados con RRF</a:t>
            </a:r>
            <a:endParaRPr lang="en-US" sz="1050" dirty="0"/>
          </a:p>
        </p:txBody>
      </p:sp>
      <p:sp>
        <p:nvSpPr>
          <p:cNvPr id="15" name="Text 13"/>
          <p:cNvSpPr txBox="1"/>
          <p:nvPr/>
        </p:nvSpPr>
        <p:spPr>
          <a:xfrm>
            <a:off x="5715000" y="3017520"/>
            <a:ext cx="1234440" cy="1463040"/>
          </a:xfrm>
          <a:prstGeom prst="rect">
            <a:avLst/>
          </a:prstGeom>
          <a:noFill/>
          <a:ln/>
        </p:spPr>
        <p:txBody>
          <a:bodyPr wrap="square" lIns="0" tIns="0" rIns="0" bIns="0" rtlCol="0" anchor="ctr"/>
          <a:lstStyle/>
          <a:p>
            <a:pPr algn="ctr" indent="0" marL="0">
              <a:buNone/>
            </a:pPr>
            <a:r>
              <a:rPr lang="en-US" sz="1100" i="1" dirty="0">
                <a:solidFill>
                  <a:srgbClr val="67728F"/>
                </a:solidFill>
                <a:latin typeface="Calibri" pitchFamily="34" charset="0"/>
                <a:ea typeface="Calibri" pitchFamily="34" charset="-122"/>
                <a:cs typeface="Calibri" pitchFamily="34" charset="-120"/>
              </a:rPr>
              <a:t>túnel SSH</a:t>
            </a:r>
            <a:endParaRPr lang="en-US" sz="1100" dirty="0"/>
          </a:p>
          <a:p>
            <a:pPr algn="ctr" indent="0" marL="0">
              <a:buNone/>
            </a:pPr>
            <a:r>
              <a:rPr lang="en-US" sz="1100" i="1" dirty="0">
                <a:solidFill>
                  <a:srgbClr val="67728F"/>
                </a:solidFill>
                <a:latin typeface="Calibri" pitchFamily="34" charset="0"/>
                <a:ea typeface="Calibri" pitchFamily="34" charset="-122"/>
                <a:cs typeface="Calibri" pitchFamily="34" charset="-120"/>
              </a:rPr>
              <a:t>inverso ×2</a:t>
            </a:r>
            <a:endParaRPr lang="en-US" sz="1100" dirty="0"/>
          </a:p>
        </p:txBody>
      </p:sp>
      <p:sp>
        <p:nvSpPr>
          <p:cNvPr id="16" name="Shape 14"/>
          <p:cNvSpPr/>
          <p:nvPr/>
        </p:nvSpPr>
        <p:spPr>
          <a:xfrm flipH="1">
            <a:off x="5623560" y="3429000"/>
            <a:ext cx="1325880" cy="320040"/>
          </a:xfrm>
          <a:prstGeom prst="rightArrow">
            <a:avLst/>
          </a:prstGeom>
          <a:solidFill>
            <a:srgbClr val="3CBDC7"/>
          </a:solidFill>
          <a:ln/>
        </p:spPr>
      </p:sp>
      <p:sp>
        <p:nvSpPr>
          <p:cNvPr id="17" name="Shape 15"/>
          <p:cNvSpPr/>
          <p:nvPr/>
        </p:nvSpPr>
        <p:spPr>
          <a:xfrm>
            <a:off x="5623560" y="3977640"/>
            <a:ext cx="1325880" cy="320040"/>
          </a:xfrm>
          <a:prstGeom prst="rightArrow">
            <a:avLst/>
          </a:prstGeom>
          <a:solidFill>
            <a:srgbClr val="3CBDC7"/>
          </a:solidFill>
          <a:ln/>
        </p:spPr>
      </p:sp>
      <p:sp>
        <p:nvSpPr>
          <p:cNvPr id="18" name="Shape 16"/>
          <p:cNvSpPr/>
          <p:nvPr/>
        </p:nvSpPr>
        <p:spPr>
          <a:xfrm>
            <a:off x="7040880" y="1737360"/>
            <a:ext cx="4526280" cy="3931920"/>
          </a:xfrm>
          <a:prstGeom prst="roundRect">
            <a:avLst>
              <a:gd name="adj" fmla="val 2326"/>
            </a:avLst>
          </a:prstGeom>
          <a:solidFill>
            <a:srgbClr val="121526"/>
          </a:solidFill>
          <a:ln/>
        </p:spPr>
      </p:sp>
      <p:sp>
        <p:nvSpPr>
          <p:cNvPr id="19" name="Text 17"/>
          <p:cNvSpPr txBox="1"/>
          <p:nvPr/>
        </p:nvSpPr>
        <p:spPr>
          <a:xfrm>
            <a:off x="7223760" y="1874520"/>
            <a:ext cx="4206240" cy="36576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HPC CEDIA (bajo demanda)</a:t>
            </a:r>
            <a:endParaRPr lang="en-US" sz="1600" dirty="0"/>
          </a:p>
        </p:txBody>
      </p:sp>
      <p:sp>
        <p:nvSpPr>
          <p:cNvPr id="20" name="Shape 18"/>
          <p:cNvSpPr/>
          <p:nvPr/>
        </p:nvSpPr>
        <p:spPr>
          <a:xfrm>
            <a:off x="7269480" y="2423160"/>
            <a:ext cx="4069080" cy="960120"/>
          </a:xfrm>
          <a:prstGeom prst="roundRect">
            <a:avLst>
              <a:gd name="adj" fmla="val 5714"/>
            </a:avLst>
          </a:prstGeom>
          <a:solidFill>
            <a:srgbClr val="242A44"/>
          </a:solidFill>
          <a:ln/>
        </p:spPr>
      </p:sp>
      <p:sp>
        <p:nvSpPr>
          <p:cNvPr id="21" name="Text 19"/>
          <p:cNvSpPr txBox="1"/>
          <p:nvPr/>
        </p:nvSpPr>
        <p:spPr>
          <a:xfrm>
            <a:off x="7452360" y="2514600"/>
            <a:ext cx="3657600" cy="365760"/>
          </a:xfrm>
          <a:prstGeom prst="rect">
            <a:avLst/>
          </a:prstGeom>
          <a:noFill/>
          <a:ln/>
        </p:spPr>
        <p:txBody>
          <a:bodyPr wrap="square" lIns="0" tIns="0" rIns="0" bIns="0" rtlCol="0" anchor="ctr"/>
          <a:lstStyle/>
          <a:p>
            <a:pPr indent="0" marL="0">
              <a:buNone/>
            </a:pPr>
            <a:r>
              <a:rPr lang="en-US" sz="1300" b="1" dirty="0">
                <a:solidFill>
                  <a:srgbClr val="3CBDC7"/>
                </a:solidFill>
                <a:latin typeface="Cambria" pitchFamily="34" charset="0"/>
                <a:ea typeface="Cambria" pitchFamily="34" charset="-122"/>
                <a:cs typeface="Cambria" pitchFamily="34" charset="-120"/>
              </a:rPr>
              <a:t>vLLM · Qwen2.5-7B-Instruct</a:t>
            </a:r>
            <a:endParaRPr lang="en-US" sz="1300" dirty="0"/>
          </a:p>
        </p:txBody>
      </p:sp>
      <p:sp>
        <p:nvSpPr>
          <p:cNvPr id="22" name="Text 20"/>
          <p:cNvSpPr txBox="1"/>
          <p:nvPr/>
        </p:nvSpPr>
        <p:spPr>
          <a:xfrm>
            <a:off x="7452360" y="2834640"/>
            <a:ext cx="3657600" cy="457200"/>
          </a:xfrm>
          <a:prstGeom prst="rect">
            <a:avLst/>
          </a:prstGeom>
          <a:noFill/>
          <a:ln/>
        </p:spPr>
        <p:txBody>
          <a:bodyPr wrap="square" lIns="0" tIns="0" rIns="0" bIns="0" rtlCol="0" anchor="ctr"/>
          <a:lstStyle/>
          <a:p>
            <a:pPr indent="0" marL="0">
              <a:buNone/>
            </a:pPr>
            <a:r>
              <a:rPr lang="en-US" sz="1050" dirty="0">
                <a:solidFill>
                  <a:srgbClr val="EEF1F8"/>
                </a:solidFill>
                <a:latin typeface="Calibri" pitchFamily="34" charset="0"/>
                <a:ea typeface="Calibri" pitchFamily="34" charset="-122"/>
                <a:cs typeface="Calibri" pitchFamily="34" charset="-120"/>
              </a:rPr>
              <a:t>vLLM (motor de inferencia de código abierto) en GPU NVIDIA A100 40GB — genera los veredictos</a:t>
            </a:r>
            <a:endParaRPr lang="en-US" sz="1050" dirty="0"/>
          </a:p>
        </p:txBody>
      </p:sp>
      <p:sp>
        <p:nvSpPr>
          <p:cNvPr id="23" name="Shape 21"/>
          <p:cNvSpPr/>
          <p:nvPr/>
        </p:nvSpPr>
        <p:spPr>
          <a:xfrm>
            <a:off x="7269480" y="3611880"/>
            <a:ext cx="4069080" cy="960120"/>
          </a:xfrm>
          <a:prstGeom prst="roundRect">
            <a:avLst>
              <a:gd name="adj" fmla="val 5714"/>
            </a:avLst>
          </a:prstGeom>
          <a:solidFill>
            <a:srgbClr val="242A44"/>
          </a:solidFill>
          <a:ln/>
        </p:spPr>
      </p:sp>
      <p:sp>
        <p:nvSpPr>
          <p:cNvPr id="24" name="Text 22"/>
          <p:cNvSpPr txBox="1"/>
          <p:nvPr/>
        </p:nvSpPr>
        <p:spPr>
          <a:xfrm>
            <a:off x="7452360" y="3703320"/>
            <a:ext cx="3657600" cy="365760"/>
          </a:xfrm>
          <a:prstGeom prst="rect">
            <a:avLst/>
          </a:prstGeom>
          <a:noFill/>
          <a:ln/>
        </p:spPr>
        <p:txBody>
          <a:bodyPr wrap="square" lIns="0" tIns="0" rIns="0" bIns="0" rtlCol="0" anchor="ctr"/>
          <a:lstStyle/>
          <a:p>
            <a:pPr indent="0" marL="0">
              <a:buNone/>
            </a:pPr>
            <a:r>
              <a:rPr lang="en-US" sz="1300" b="1" dirty="0">
                <a:solidFill>
                  <a:srgbClr val="3CBDC7"/>
                </a:solidFill>
                <a:latin typeface="Cambria" pitchFamily="34" charset="0"/>
                <a:ea typeface="Cambria" pitchFamily="34" charset="-122"/>
                <a:cs typeface="Cambria" pitchFamily="34" charset="-120"/>
              </a:rPr>
              <a:t>TEI · multilingual-e5-large</a:t>
            </a:r>
            <a:endParaRPr lang="en-US" sz="1300" dirty="0"/>
          </a:p>
        </p:txBody>
      </p:sp>
      <p:sp>
        <p:nvSpPr>
          <p:cNvPr id="25" name="Text 23"/>
          <p:cNvSpPr txBox="1"/>
          <p:nvPr/>
        </p:nvSpPr>
        <p:spPr>
          <a:xfrm>
            <a:off x="7452360" y="4023360"/>
            <a:ext cx="3657600" cy="457200"/>
          </a:xfrm>
          <a:prstGeom prst="rect">
            <a:avLst/>
          </a:prstGeom>
          <a:noFill/>
          <a:ln/>
        </p:spPr>
        <p:txBody>
          <a:bodyPr wrap="square" lIns="0" tIns="0" rIns="0" bIns="0" rtlCol="0" anchor="ctr"/>
          <a:lstStyle/>
          <a:p>
            <a:pPr indent="0" marL="0">
              <a:buNone/>
            </a:pPr>
            <a:r>
              <a:rPr lang="en-US" sz="1050" dirty="0">
                <a:solidFill>
                  <a:srgbClr val="EEF1F8"/>
                </a:solidFill>
                <a:latin typeface="Calibri" pitchFamily="34" charset="0"/>
                <a:ea typeface="Calibri" pitchFamily="34" charset="-122"/>
                <a:cs typeface="Calibri" pitchFamily="34" charset="-120"/>
              </a:rPr>
              <a:t>TEI, servidor de embeddings, en CPU — calcula consulta y corpus</a:t>
            </a:r>
            <a:endParaRPr lang="en-US" sz="1050" dirty="0"/>
          </a:p>
        </p:txBody>
      </p:sp>
      <p:sp>
        <p:nvSpPr>
          <p:cNvPr id="26" name="Text 24"/>
          <p:cNvSpPr txBox="1"/>
          <p:nvPr/>
        </p:nvSpPr>
        <p:spPr>
          <a:xfrm>
            <a:off x="7269480" y="4892040"/>
            <a:ext cx="4114800" cy="685800"/>
          </a:xfrm>
          <a:prstGeom prst="rect">
            <a:avLst/>
          </a:prstGeom>
          <a:noFill/>
          <a:ln/>
        </p:spPr>
        <p:txBody>
          <a:bodyPr wrap="square" lIns="0" tIns="0" rIns="0" bIns="0" rtlCol="0" anchor="ctr"/>
          <a:lstStyle/>
          <a:p>
            <a:pPr indent="0" marL="0">
              <a:buNone/>
            </a:pPr>
            <a:r>
              <a:rPr lang="en-US" sz="1000" i="1" dirty="0">
                <a:solidFill>
                  <a:srgbClr val="3CBDC7"/>
                </a:solidFill>
                <a:latin typeface="Calibri" pitchFamily="34" charset="0"/>
                <a:ea typeface="Calibri" pitchFamily="34" charset="-122"/>
                <a:cs typeface="Calibri" pitchFamily="34" charset="-120"/>
              </a:rPr>
              <a:t>1 sola reserva Slurm compartida (límite de la cuenta: 1 job concurrente) — se libera al terminar, costo GPU = 0 el resto del tiempo</a:t>
            </a:r>
            <a:endParaRPr lang="en-US" sz="1000" dirty="0"/>
          </a:p>
        </p:txBody>
      </p:sp>
      <p:sp>
        <p:nvSpPr>
          <p:cNvPr id="25" name="Slide Number Placeholder 0"/>
          <p:cNvSpPr>
            <a:spLocks noGrp="1"/>
          </p:cNvSpPr>
          <p:nvPr>
            <p:ph type="sldNum" sz="quarter" idx="4294967295"/>
          </p:nvPr>
        </p:nvSpPr>
        <p:spPr>
          <a:xfrm>
            <a:off x="11521440" y="649224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7728F"/>
                </a:solidFill>
                <a:latin typeface="Calibri"/>
                <a:ea typeface="Calibri"/>
                <a:cs typeface="Calibri"/>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640080" y="457200"/>
            <a:ext cx="10881360" cy="822960"/>
          </a:xfrm>
          <a:prstGeom prst="rect">
            <a:avLst/>
          </a:prstGeom>
          <a:noFill/>
          <a:ln/>
        </p:spPr>
        <p:txBody>
          <a:bodyPr wrap="square" rtlCol="0"/>
          <a:lstStyle/>
          <a:p>
            <a:pPr algn="l" indent="0" marL="0">
              <a:buNone/>
            </a:pPr>
            <a:r>
              <a:rPr lang="en-US" sz="3000" b="1" dirty="0">
                <a:solidFill>
                  <a:srgbClr val="121526"/>
                </a:solidFill>
                <a:latin typeface="Cambria" pitchFamily="34" charset="0"/>
                <a:ea typeface="Cambria" pitchFamily="34" charset="-122"/>
                <a:cs typeface="Cambria" pitchFamily="34" charset="-120"/>
              </a:rPr>
              <a:t>Los datos: corpus real de normativa de la UTE</a:t>
            </a:r>
            <a:endParaRPr lang="en-US" sz="3000" dirty="0"/>
          </a:p>
        </p:txBody>
      </p:sp>
      <p:sp>
        <p:nvSpPr>
          <p:cNvPr id="3" name="Text 1"/>
          <p:cNvSpPr txBox="1"/>
          <p:nvPr/>
        </p:nvSpPr>
        <p:spPr>
          <a:xfrm>
            <a:off x="640080" y="1737360"/>
            <a:ext cx="2523744" cy="914400"/>
          </a:xfrm>
          <a:prstGeom prst="rect">
            <a:avLst/>
          </a:prstGeom>
          <a:noFill/>
          <a:ln/>
        </p:spPr>
        <p:txBody>
          <a:bodyPr wrap="square" lIns="0" tIns="0" rIns="0" bIns="0" rtlCol="0" anchor="ctr"/>
          <a:lstStyle/>
          <a:p>
            <a:pPr algn="ctr" indent="0" marL="0">
              <a:buNone/>
            </a:pPr>
            <a:r>
              <a:rPr lang="en-US" sz="4800" b="1" dirty="0">
                <a:solidFill>
                  <a:srgbClr val="1AA3AF"/>
                </a:solidFill>
                <a:latin typeface="Cambria" pitchFamily="34" charset="0"/>
                <a:ea typeface="Cambria" pitchFamily="34" charset="-122"/>
                <a:cs typeface="Cambria" pitchFamily="34" charset="-120"/>
              </a:rPr>
              <a:t>10</a:t>
            </a:r>
            <a:endParaRPr lang="en-US" sz="4800" dirty="0"/>
          </a:p>
        </p:txBody>
      </p:sp>
      <p:sp>
        <p:nvSpPr>
          <p:cNvPr id="4" name="Text 2"/>
          <p:cNvSpPr txBox="1"/>
          <p:nvPr/>
        </p:nvSpPr>
        <p:spPr>
          <a:xfrm>
            <a:off x="640080" y="2606040"/>
            <a:ext cx="2523744" cy="640080"/>
          </a:xfrm>
          <a:prstGeom prst="rect">
            <a:avLst/>
          </a:prstGeom>
          <a:noFill/>
          <a:ln/>
        </p:spPr>
        <p:txBody>
          <a:bodyPr wrap="square" lIns="0" tIns="0" rIns="0" bIns="0" rtlCol="0" anchor="ctr"/>
          <a:lstStyle/>
          <a:p>
            <a:pPr algn="ctr" indent="0" marL="0">
              <a:buNone/>
            </a:pPr>
            <a:r>
              <a:rPr lang="en-US" sz="1200" dirty="0">
                <a:solidFill>
                  <a:srgbClr val="242A44"/>
                </a:solidFill>
                <a:latin typeface="Calibri" pitchFamily="34" charset="0"/>
                <a:ea typeface="Calibri" pitchFamily="34" charset="-122"/>
                <a:cs typeface="Calibri" pitchFamily="34" charset="-120"/>
              </a:rPr>
              <a:t>reglamentos reales de la UTE</a:t>
            </a:r>
            <a:endParaRPr lang="en-US" sz="1200" dirty="0"/>
          </a:p>
        </p:txBody>
      </p:sp>
      <p:sp>
        <p:nvSpPr>
          <p:cNvPr id="5" name="Text 3"/>
          <p:cNvSpPr txBox="1"/>
          <p:nvPr/>
        </p:nvSpPr>
        <p:spPr>
          <a:xfrm>
            <a:off x="3438144" y="1737360"/>
            <a:ext cx="2523744" cy="914400"/>
          </a:xfrm>
          <a:prstGeom prst="rect">
            <a:avLst/>
          </a:prstGeom>
          <a:noFill/>
          <a:ln/>
        </p:spPr>
        <p:txBody>
          <a:bodyPr wrap="square" lIns="0" tIns="0" rIns="0" bIns="0" rtlCol="0" anchor="ctr"/>
          <a:lstStyle/>
          <a:p>
            <a:pPr algn="ctr" indent="0" marL="0">
              <a:buNone/>
            </a:pPr>
            <a:r>
              <a:rPr lang="en-US" sz="4800" b="1" dirty="0">
                <a:solidFill>
                  <a:srgbClr val="414C74"/>
                </a:solidFill>
                <a:latin typeface="Cambria" pitchFamily="34" charset="0"/>
                <a:ea typeface="Cambria" pitchFamily="34" charset="-122"/>
                <a:cs typeface="Cambria" pitchFamily="34" charset="-120"/>
              </a:rPr>
              <a:t>~311</a:t>
            </a:r>
            <a:endParaRPr lang="en-US" sz="4800" dirty="0"/>
          </a:p>
        </p:txBody>
      </p:sp>
      <p:sp>
        <p:nvSpPr>
          <p:cNvPr id="6" name="Text 4"/>
          <p:cNvSpPr txBox="1"/>
          <p:nvPr/>
        </p:nvSpPr>
        <p:spPr>
          <a:xfrm>
            <a:off x="3438144" y="2606040"/>
            <a:ext cx="2523744" cy="640080"/>
          </a:xfrm>
          <a:prstGeom prst="rect">
            <a:avLst/>
          </a:prstGeom>
          <a:noFill/>
          <a:ln/>
        </p:spPr>
        <p:txBody>
          <a:bodyPr wrap="square" lIns="0" tIns="0" rIns="0" bIns="0" rtlCol="0" anchor="ctr"/>
          <a:lstStyle/>
          <a:p>
            <a:pPr algn="ctr" indent="0" marL="0">
              <a:buNone/>
            </a:pPr>
            <a:r>
              <a:rPr lang="en-US" sz="1200" dirty="0">
                <a:solidFill>
                  <a:srgbClr val="242A44"/>
                </a:solidFill>
                <a:latin typeface="Calibri" pitchFamily="34" charset="0"/>
                <a:ea typeface="Calibri" pitchFamily="34" charset="-122"/>
                <a:cs typeface="Calibri" pitchFamily="34" charset="-120"/>
              </a:rPr>
              <a:t>páginas procesadas</a:t>
            </a:r>
            <a:endParaRPr lang="en-US" sz="1200" dirty="0"/>
          </a:p>
        </p:txBody>
      </p:sp>
      <p:sp>
        <p:nvSpPr>
          <p:cNvPr id="7" name="Text 5"/>
          <p:cNvSpPr txBox="1"/>
          <p:nvPr/>
        </p:nvSpPr>
        <p:spPr>
          <a:xfrm>
            <a:off x="6236208" y="1737360"/>
            <a:ext cx="2523744" cy="914400"/>
          </a:xfrm>
          <a:prstGeom prst="rect">
            <a:avLst/>
          </a:prstGeom>
          <a:noFill/>
          <a:ln/>
        </p:spPr>
        <p:txBody>
          <a:bodyPr wrap="square" lIns="0" tIns="0" rIns="0" bIns="0" rtlCol="0" anchor="ctr"/>
          <a:lstStyle/>
          <a:p>
            <a:pPr algn="ctr" indent="0" marL="0">
              <a:buNone/>
            </a:pPr>
            <a:r>
              <a:rPr lang="en-US" sz="4800" b="1" dirty="0">
                <a:solidFill>
                  <a:srgbClr val="11838D"/>
                </a:solidFill>
                <a:latin typeface="Cambria" pitchFamily="34" charset="0"/>
                <a:ea typeface="Cambria" pitchFamily="34" charset="-122"/>
                <a:cs typeface="Cambria" pitchFamily="34" charset="-120"/>
              </a:rPr>
              <a:t>896</a:t>
            </a:r>
            <a:endParaRPr lang="en-US" sz="4800" dirty="0"/>
          </a:p>
        </p:txBody>
      </p:sp>
      <p:sp>
        <p:nvSpPr>
          <p:cNvPr id="8" name="Text 6"/>
          <p:cNvSpPr txBox="1"/>
          <p:nvPr/>
        </p:nvSpPr>
        <p:spPr>
          <a:xfrm>
            <a:off x="6236208" y="2606040"/>
            <a:ext cx="2523744" cy="640080"/>
          </a:xfrm>
          <a:prstGeom prst="rect">
            <a:avLst/>
          </a:prstGeom>
          <a:noFill/>
          <a:ln/>
        </p:spPr>
        <p:txBody>
          <a:bodyPr wrap="square" lIns="0" tIns="0" rIns="0" bIns="0" rtlCol="0" anchor="ctr"/>
          <a:lstStyle/>
          <a:p>
            <a:pPr algn="ctr" indent="0" marL="0">
              <a:buNone/>
            </a:pPr>
            <a:r>
              <a:rPr lang="en-US" sz="1200" dirty="0">
                <a:solidFill>
                  <a:srgbClr val="242A44"/>
                </a:solidFill>
                <a:latin typeface="Calibri" pitchFamily="34" charset="0"/>
                <a:ea typeface="Calibri" pitchFamily="34" charset="-122"/>
                <a:cs typeface="Calibri" pitchFamily="34" charset="-120"/>
              </a:rPr>
              <a:t>fragmentos (chunks) indexados</a:t>
            </a:r>
            <a:endParaRPr lang="en-US" sz="1200" dirty="0"/>
          </a:p>
        </p:txBody>
      </p:sp>
      <p:sp>
        <p:nvSpPr>
          <p:cNvPr id="9" name="Text 7"/>
          <p:cNvSpPr txBox="1"/>
          <p:nvPr/>
        </p:nvSpPr>
        <p:spPr>
          <a:xfrm>
            <a:off x="9034272" y="1737360"/>
            <a:ext cx="2523744" cy="914400"/>
          </a:xfrm>
          <a:prstGeom prst="rect">
            <a:avLst/>
          </a:prstGeom>
          <a:noFill/>
          <a:ln/>
        </p:spPr>
        <p:txBody>
          <a:bodyPr wrap="square" lIns="0" tIns="0" rIns="0" bIns="0" rtlCol="0" anchor="ctr"/>
          <a:lstStyle/>
          <a:p>
            <a:pPr algn="ctr" indent="0" marL="0">
              <a:buNone/>
            </a:pPr>
            <a:r>
              <a:rPr lang="en-US" sz="4800" b="1" dirty="0">
                <a:solidFill>
                  <a:srgbClr val="67728F"/>
                </a:solidFill>
                <a:latin typeface="Cambria" pitchFamily="34" charset="0"/>
                <a:ea typeface="Cambria" pitchFamily="34" charset="-122"/>
                <a:cs typeface="Cambria" pitchFamily="34" charset="-120"/>
              </a:rPr>
              <a:t>15</a:t>
            </a:r>
            <a:endParaRPr lang="en-US" sz="4800" dirty="0"/>
          </a:p>
        </p:txBody>
      </p:sp>
      <p:sp>
        <p:nvSpPr>
          <p:cNvPr id="10" name="Text 8"/>
          <p:cNvSpPr txBox="1"/>
          <p:nvPr/>
        </p:nvSpPr>
        <p:spPr>
          <a:xfrm>
            <a:off x="9034272" y="2606040"/>
            <a:ext cx="2523744" cy="640080"/>
          </a:xfrm>
          <a:prstGeom prst="rect">
            <a:avLst/>
          </a:prstGeom>
          <a:noFill/>
          <a:ln/>
        </p:spPr>
        <p:txBody>
          <a:bodyPr wrap="square" lIns="0" tIns="0" rIns="0" bIns="0" rtlCol="0" anchor="ctr"/>
          <a:lstStyle/>
          <a:p>
            <a:pPr algn="ctr" indent="0" marL="0">
              <a:buNone/>
            </a:pPr>
            <a:r>
              <a:rPr lang="en-US" sz="1200" dirty="0">
                <a:solidFill>
                  <a:srgbClr val="242A44"/>
                </a:solidFill>
                <a:latin typeface="Calibri" pitchFamily="34" charset="0"/>
                <a:ea typeface="Calibri" pitchFamily="34" charset="-122"/>
                <a:cs typeface="Calibri" pitchFamily="34" charset="-120"/>
              </a:rPr>
              <a:t>preguntas reales de evaluación</a:t>
            </a:r>
            <a:endParaRPr lang="en-US" sz="1200" dirty="0"/>
          </a:p>
        </p:txBody>
      </p:sp>
      <p:sp>
        <p:nvSpPr>
          <p:cNvPr id="11" name="Shape 9"/>
          <p:cNvSpPr/>
          <p:nvPr/>
        </p:nvSpPr>
        <p:spPr>
          <a:xfrm>
            <a:off x="640080" y="3246120"/>
            <a:ext cx="5294376" cy="2240280"/>
          </a:xfrm>
          <a:prstGeom prst="roundRect">
            <a:avLst>
              <a:gd name="adj" fmla="val 3265"/>
            </a:avLst>
          </a:prstGeom>
          <a:solidFill>
            <a:srgbClr val="EEF1F8"/>
          </a:solidFill>
          <a:ln/>
          <a:effectLst>
            <a:outerShdw sx="100000" sy="100000" kx="0" ky="0" algn="bl" rotWithShape="0" blurRad="76200" dist="25400" dir="5400000">
              <a:srgbClr val="000000">
                <a:alpha val="12000"/>
              </a:srgbClr>
            </a:outerShdw>
          </a:effectLst>
        </p:spPr>
      </p:sp>
      <p:sp>
        <p:nvSpPr>
          <p:cNvPr id="12" name="Shape 10"/>
          <p:cNvSpPr/>
          <p:nvPr/>
        </p:nvSpPr>
        <p:spPr>
          <a:xfrm>
            <a:off x="868680" y="3474720"/>
            <a:ext cx="384048" cy="384048"/>
          </a:xfrm>
          <a:prstGeom prst="ellipse">
            <a:avLst/>
          </a:prstGeom>
          <a:solidFill>
            <a:srgbClr val="1AA3AF"/>
          </a:solidFill>
          <a:ln/>
        </p:spPr>
      </p:sp>
      <p:sp>
        <p:nvSpPr>
          <p:cNvPr id="13" name="Text 11"/>
          <p:cNvSpPr txBox="1"/>
          <p:nvPr/>
        </p:nvSpPr>
        <p:spPr>
          <a:xfrm>
            <a:off x="1371600" y="3447288"/>
            <a:ext cx="4379976" cy="457200"/>
          </a:xfrm>
          <a:prstGeom prst="rect">
            <a:avLst/>
          </a:prstGeom>
          <a:noFill/>
          <a:ln/>
        </p:spPr>
        <p:txBody>
          <a:bodyPr wrap="square" lIns="0" tIns="0" rIns="0" bIns="0" rtlCol="0" anchor="ctr"/>
          <a:lstStyle/>
          <a:p>
            <a:pPr indent="0" marL="0">
              <a:buNone/>
            </a:pPr>
            <a:r>
              <a:rPr lang="en-US" sz="1500" b="1" dirty="0">
                <a:solidFill>
                  <a:srgbClr val="121526"/>
                </a:solidFill>
                <a:latin typeface="Cambria" pitchFamily="34" charset="0"/>
                <a:ea typeface="Cambria" pitchFamily="34" charset="-122"/>
                <a:cs typeface="Cambria" pitchFamily="34" charset="-120"/>
              </a:rPr>
              <a:t>Preprocesamiento</a:t>
            </a:r>
            <a:endParaRPr lang="en-US" sz="1500" dirty="0"/>
          </a:p>
        </p:txBody>
      </p:sp>
      <p:sp>
        <p:nvSpPr>
          <p:cNvPr id="14" name="Text 12"/>
          <p:cNvSpPr txBox="1"/>
          <p:nvPr/>
        </p:nvSpPr>
        <p:spPr>
          <a:xfrm>
            <a:off x="914400" y="3995928"/>
            <a:ext cx="4745736" cy="1325880"/>
          </a:xfrm>
          <a:prstGeom prst="rect">
            <a:avLst/>
          </a:prstGeom>
          <a:noFill/>
          <a:ln/>
        </p:spPr>
        <p:txBody>
          <a:bodyPr wrap="square" lIns="0" tIns="0" rIns="0" bIns="0" rtlCol="0" anchor="t"/>
          <a:lstStyle/>
          <a:p>
            <a:pPr indent="0" marL="0">
              <a:buNone/>
            </a:pPr>
            <a:r>
              <a:rPr lang="en-US" sz="1200" dirty="0">
                <a:solidFill>
                  <a:srgbClr val="242A44"/>
                </a:solidFill>
                <a:latin typeface="Calibri" pitchFamily="34" charset="0"/>
                <a:ea typeface="Calibri" pitchFamily="34" charset="-122"/>
                <a:cs typeface="Calibri" pitchFamily="34" charset="-120"/>
              </a:rPr>
              <a:t>pdftotext -layout + segmentación por patrón de artículo ("Artículo 67.") con respaldo por párrafo. Cada chunk conserva documento y número de artículo de origen.</a:t>
            </a:r>
            <a:endParaRPr lang="en-US" sz="1200" dirty="0"/>
          </a:p>
        </p:txBody>
      </p:sp>
      <p:sp>
        <p:nvSpPr>
          <p:cNvPr id="15" name="Shape 13"/>
          <p:cNvSpPr/>
          <p:nvPr/>
        </p:nvSpPr>
        <p:spPr>
          <a:xfrm>
            <a:off x="6254496" y="3246120"/>
            <a:ext cx="5294376" cy="2240280"/>
          </a:xfrm>
          <a:prstGeom prst="roundRect">
            <a:avLst>
              <a:gd name="adj" fmla="val 3265"/>
            </a:avLst>
          </a:prstGeom>
          <a:solidFill>
            <a:srgbClr val="EEF1F8"/>
          </a:solidFill>
          <a:ln/>
          <a:effectLst>
            <a:outerShdw sx="100000" sy="100000" kx="0" ky="0" algn="bl" rotWithShape="0" blurRad="76200" dist="25400" dir="5400000">
              <a:srgbClr val="000000">
                <a:alpha val="12000"/>
              </a:srgbClr>
            </a:outerShdw>
          </a:effectLst>
        </p:spPr>
      </p:sp>
      <p:sp>
        <p:nvSpPr>
          <p:cNvPr id="16" name="Shape 14"/>
          <p:cNvSpPr/>
          <p:nvPr/>
        </p:nvSpPr>
        <p:spPr>
          <a:xfrm>
            <a:off x="6483096" y="3474720"/>
            <a:ext cx="384048" cy="384048"/>
          </a:xfrm>
          <a:prstGeom prst="ellipse">
            <a:avLst/>
          </a:prstGeom>
          <a:solidFill>
            <a:srgbClr val="414C74"/>
          </a:solidFill>
          <a:ln/>
        </p:spPr>
      </p:sp>
      <p:sp>
        <p:nvSpPr>
          <p:cNvPr id="17" name="Text 15"/>
          <p:cNvSpPr txBox="1"/>
          <p:nvPr/>
        </p:nvSpPr>
        <p:spPr>
          <a:xfrm>
            <a:off x="6986016" y="3447288"/>
            <a:ext cx="4379976" cy="457200"/>
          </a:xfrm>
          <a:prstGeom prst="rect">
            <a:avLst/>
          </a:prstGeom>
          <a:noFill/>
          <a:ln/>
        </p:spPr>
        <p:txBody>
          <a:bodyPr wrap="square" lIns="0" tIns="0" rIns="0" bIns="0" rtlCol="0" anchor="ctr"/>
          <a:lstStyle/>
          <a:p>
            <a:pPr indent="0" marL="0">
              <a:buNone/>
            </a:pPr>
            <a:r>
              <a:rPr lang="en-US" sz="1500" b="1" dirty="0">
                <a:solidFill>
                  <a:srgbClr val="121526"/>
                </a:solidFill>
                <a:latin typeface="Cambria" pitchFamily="34" charset="0"/>
                <a:ea typeface="Cambria" pitchFamily="34" charset="-122"/>
                <a:cs typeface="Cambria" pitchFamily="34" charset="-120"/>
              </a:rPr>
              <a:t>Gap conocido (documentado)</a:t>
            </a:r>
            <a:endParaRPr lang="en-US" sz="1500" dirty="0"/>
          </a:p>
        </p:txBody>
      </p:sp>
      <p:sp>
        <p:nvSpPr>
          <p:cNvPr id="18" name="Text 16"/>
          <p:cNvSpPr txBox="1"/>
          <p:nvPr/>
        </p:nvSpPr>
        <p:spPr>
          <a:xfrm>
            <a:off x="6528816" y="3995928"/>
            <a:ext cx="4745736" cy="1325880"/>
          </a:xfrm>
          <a:prstGeom prst="rect">
            <a:avLst/>
          </a:prstGeom>
          <a:noFill/>
          <a:ln/>
        </p:spPr>
        <p:txBody>
          <a:bodyPr wrap="square" lIns="0" tIns="0" rIns="0" bIns="0" rtlCol="0" anchor="t"/>
          <a:lstStyle/>
          <a:p>
            <a:pPr indent="0" marL="0">
              <a:buNone/>
            </a:pPr>
            <a:r>
              <a:rPr lang="en-US" sz="1200" dirty="0">
                <a:solidFill>
                  <a:srgbClr val="242A44"/>
                </a:solidFill>
                <a:latin typeface="Calibri" pitchFamily="34" charset="0"/>
                <a:ea typeface="Calibri" pitchFamily="34" charset="-122"/>
                <a:cs typeface="Calibri" pitchFamily="34" charset="-120"/>
              </a:rPr>
              <a:t>2 de los 10 PDF son escaneados sin capa de texto (0 chunks). No afecta sílabos de pregrado; incorporarlos requiere OCR (reconocimiento óptico de caracteres) — próximo paso.</a:t>
            </a:r>
            <a:endParaRPr lang="en-US" sz="1200" dirty="0"/>
          </a:p>
        </p:txBody>
      </p:sp>
      <p:sp>
        <p:nvSpPr>
          <p:cNvPr id="25" name="Slide Number Placeholder 0"/>
          <p:cNvSpPr>
            <a:spLocks noGrp="1"/>
          </p:cNvSpPr>
          <p:nvPr>
            <p:ph type="sldNum" sz="quarter" idx="4294967295"/>
          </p:nvPr>
        </p:nvSpPr>
        <p:spPr>
          <a:xfrm>
            <a:off x="11521440" y="649224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7728F"/>
                </a:solidFill>
                <a:latin typeface="Calibri"/>
                <a:ea typeface="Calibri"/>
                <a:cs typeface="Calibri"/>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640080" y="457200"/>
            <a:ext cx="10881360" cy="822960"/>
          </a:xfrm>
          <a:prstGeom prst="rect">
            <a:avLst/>
          </a:prstGeom>
          <a:noFill/>
          <a:ln/>
        </p:spPr>
        <p:txBody>
          <a:bodyPr wrap="square" rtlCol="0"/>
          <a:lstStyle/>
          <a:p>
            <a:pPr algn="l" indent="0" marL="0">
              <a:buNone/>
            </a:pPr>
            <a:r>
              <a:rPr lang="en-US" sz="3000" b="1" dirty="0">
                <a:solidFill>
                  <a:srgbClr val="121526"/>
                </a:solidFill>
                <a:latin typeface="Cambria" pitchFamily="34" charset="0"/>
                <a:ea typeface="Cambria" pitchFamily="34" charset="-122"/>
                <a:cs typeface="Cambria" pitchFamily="34" charset="-120"/>
              </a:rPr>
              <a:t>El modelo: dos puertos de IA + recuperación híbrida (vector + palabra clave)</a:t>
            </a:r>
            <a:endParaRPr lang="en-US" sz="3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40080" y="1554480"/>
          <a:ext cx="10881360" cy="2194560"/>
        </p:xfrm>
        <a:graphic>
          <a:graphicData uri="http://schemas.openxmlformats.org/drawingml/2006/table">
            <a:tbl>
              <a:tblPr/>
              <a:tblGrid>
                <a:gridCol w="2560320"/>
                <a:gridCol w="5029200"/>
                <a:gridCol w="3291840"/>
              </a:tblGrid>
              <a:tr h="54864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Componente</a:t>
                      </a:r>
                      <a:endParaRPr lang="en-US" sz="1400" dirty="0">
                        <a:latin typeface="Calibri" charset="0"/>
                        <a:ea typeface="Calibri" charset="0"/>
                        <a:cs typeface="Calibri" charset="0"/>
                      </a:endParaRPr>
                    </a:p>
                  </a:txBody>
                  <a:tcPr marL="91440" marR="91440" marT="45720" marB="45720">
                    <a:lnL w="12700" cap="flat" cmpd="sng" algn="ctr">
                      <a:solidFill>
                        <a:srgbClr val="EEF1F8"/>
                      </a:solidFill>
                      <a:prstDash val="solid"/>
                      <a:round/>
                      <a:headEnd type="none" w="med" len="med"/>
                      <a:tailEnd type="none" w="med" len="med"/>
                    </a:lnL>
                    <a:lnR w="12700" cap="flat" cmpd="sng" algn="ctr">
                      <a:solidFill>
                        <a:srgbClr val="EEF1F8"/>
                      </a:solidFill>
                      <a:prstDash val="solid"/>
                      <a:round/>
                      <a:headEnd type="none" w="med" len="med"/>
                      <a:tailEnd type="none" w="med" len="med"/>
                    </a:lnR>
                    <a:lnT w="12700" cap="flat" cmpd="sng" algn="ctr">
                      <a:solidFill>
                        <a:srgbClr val="EEF1F8"/>
                      </a:solidFill>
                      <a:prstDash val="solid"/>
                      <a:round/>
                      <a:headEnd type="none" w="med" len="med"/>
                      <a:tailEnd type="none" w="med" len="med"/>
                    </a:lnT>
                    <a:lnB w="12700" cap="flat" cmpd="sng" algn="ctr">
                      <a:solidFill>
                        <a:srgbClr val="EEF1F8"/>
                      </a:solidFill>
                      <a:prstDash val="solid"/>
                      <a:round/>
                      <a:headEnd type="none" w="med" len="med"/>
                      <a:tailEnd type="none" w="med" len="med"/>
                    </a:lnB>
                    <a:solidFill>
                      <a:srgbClr val="121526"/>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Modelo / tecnología</a:t>
                      </a:r>
                      <a:endParaRPr lang="en-US" sz="1400" dirty="0">
                        <a:latin typeface="Calibri" charset="0"/>
                        <a:ea typeface="Calibri" charset="0"/>
                        <a:cs typeface="Calibri" charset="0"/>
                      </a:endParaRPr>
                    </a:p>
                  </a:txBody>
                  <a:tcPr marL="91440" marR="91440" marT="45720" marB="45720">
                    <a:lnL w="12700" cap="flat" cmpd="sng" algn="ctr">
                      <a:solidFill>
                        <a:srgbClr val="EEF1F8"/>
                      </a:solidFill>
                      <a:prstDash val="solid"/>
                      <a:round/>
                      <a:headEnd type="none" w="med" len="med"/>
                      <a:tailEnd type="none" w="med" len="med"/>
                    </a:lnL>
                    <a:lnR w="12700" cap="flat" cmpd="sng" algn="ctr">
                      <a:solidFill>
                        <a:srgbClr val="EEF1F8"/>
                      </a:solidFill>
                      <a:prstDash val="solid"/>
                      <a:round/>
                      <a:headEnd type="none" w="med" len="med"/>
                      <a:tailEnd type="none" w="med" len="med"/>
                    </a:lnR>
                    <a:lnT w="12700" cap="flat" cmpd="sng" algn="ctr">
                      <a:solidFill>
                        <a:srgbClr val="EEF1F8"/>
                      </a:solidFill>
                      <a:prstDash val="solid"/>
                      <a:round/>
                      <a:headEnd type="none" w="med" len="med"/>
                      <a:tailEnd type="none" w="med" len="med"/>
                    </a:lnT>
                    <a:lnB w="12700" cap="flat" cmpd="sng" algn="ctr">
                      <a:solidFill>
                        <a:srgbClr val="EEF1F8"/>
                      </a:solidFill>
                      <a:prstDash val="solid"/>
                      <a:round/>
                      <a:headEnd type="none" w="med" len="med"/>
                      <a:tailEnd type="none" w="med" len="med"/>
                    </a:lnB>
                    <a:solidFill>
                      <a:srgbClr val="121526"/>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Dónde corre</a:t>
                      </a:r>
                      <a:endParaRPr lang="en-US" sz="1400" dirty="0">
                        <a:latin typeface="Calibri" charset="0"/>
                        <a:ea typeface="Calibri" charset="0"/>
                        <a:cs typeface="Calibri" charset="0"/>
                      </a:endParaRPr>
                    </a:p>
                  </a:txBody>
                  <a:tcPr marL="91440" marR="91440" marT="45720" marB="45720">
                    <a:lnL w="12700" cap="flat" cmpd="sng" algn="ctr">
                      <a:solidFill>
                        <a:srgbClr val="EEF1F8"/>
                      </a:solidFill>
                      <a:prstDash val="solid"/>
                      <a:round/>
                      <a:headEnd type="none" w="med" len="med"/>
                      <a:tailEnd type="none" w="med" len="med"/>
                    </a:lnL>
                    <a:lnR w="12700" cap="flat" cmpd="sng" algn="ctr">
                      <a:solidFill>
                        <a:srgbClr val="EEF1F8"/>
                      </a:solidFill>
                      <a:prstDash val="solid"/>
                      <a:round/>
                      <a:headEnd type="none" w="med" len="med"/>
                      <a:tailEnd type="none" w="med" len="med"/>
                    </a:lnR>
                    <a:lnT w="12700" cap="flat" cmpd="sng" algn="ctr">
                      <a:solidFill>
                        <a:srgbClr val="EEF1F8"/>
                      </a:solidFill>
                      <a:prstDash val="solid"/>
                      <a:round/>
                      <a:headEnd type="none" w="med" len="med"/>
                      <a:tailEnd type="none" w="med" len="med"/>
                    </a:lnT>
                    <a:lnB w="12700" cap="flat" cmpd="sng" algn="ctr">
                      <a:solidFill>
                        <a:srgbClr val="EEF1F8"/>
                      </a:solidFill>
                      <a:prstDash val="solid"/>
                      <a:round/>
                      <a:headEnd type="none" w="med" len="med"/>
                      <a:tailEnd type="none" w="med" len="med"/>
                    </a:lnB>
                    <a:solidFill>
                      <a:srgbClr val="121526"/>
                    </a:solidFill>
                  </a:tcPr>
                </a:tc>
              </a:tr>
              <a:tr h="548640">
                <a:tc>
                  <a:txBody>
                    <a:bodyPr/>
                    <a:lstStyle/>
                    <a:p>
                      <a:pPr indent="0" marL="0">
                        <a:buNone/>
                      </a:pPr>
                      <a:r>
                        <a:rPr lang="en-US" sz="1400" dirty="0">
                          <a:solidFill>
                            <a:srgbClr val="242A44"/>
                          </a:solidFill>
                          <a:latin typeface="Calibri" pitchFamily="34" charset="0"/>
                          <a:ea typeface="Calibri" pitchFamily="34" charset="-122"/>
                          <a:cs typeface="Calibri" pitchFamily="34" charset="-120"/>
                        </a:rPr>
                        <a:t>Embeddings</a:t>
                      </a:r>
                      <a:endParaRPr lang="en-US" sz="1400" dirty="0">
                        <a:latin typeface="Calibri" charset="0"/>
                        <a:ea typeface="Calibri" charset="0"/>
                        <a:cs typeface="Calibri" charset="0"/>
                      </a:endParaRPr>
                    </a:p>
                  </a:txBody>
                  <a:tcPr marL="91440" marR="91440" marT="45720" marB="45720">
                    <a:lnL w="12700" cap="flat" cmpd="sng" algn="ctr">
                      <a:solidFill>
                        <a:srgbClr val="EEF1F8"/>
                      </a:solidFill>
                      <a:prstDash val="solid"/>
                      <a:round/>
                      <a:headEnd type="none" w="med" len="med"/>
                      <a:tailEnd type="none" w="med" len="med"/>
                    </a:lnL>
                    <a:lnR w="12700" cap="flat" cmpd="sng" algn="ctr">
                      <a:solidFill>
                        <a:srgbClr val="EEF1F8"/>
                      </a:solidFill>
                      <a:prstDash val="solid"/>
                      <a:round/>
                      <a:headEnd type="none" w="med" len="med"/>
                      <a:tailEnd type="none" w="med" len="med"/>
                    </a:lnR>
                    <a:lnT w="12700" cap="flat" cmpd="sng" algn="ctr">
                      <a:solidFill>
                        <a:srgbClr val="EEF1F8"/>
                      </a:solidFill>
                      <a:prstDash val="solid"/>
                      <a:round/>
                      <a:headEnd type="none" w="med" len="med"/>
                      <a:tailEnd type="none" w="med" len="med"/>
                    </a:lnT>
                    <a:lnB w="12700" cap="flat" cmpd="sng" algn="ctr">
                      <a:solidFill>
                        <a:srgbClr val="EEF1F8"/>
                      </a:solidFill>
                      <a:prstDash val="solid"/>
                      <a:round/>
                      <a:headEnd type="none" w="med" len="med"/>
                      <a:tailEnd type="none" w="med" len="med"/>
                    </a:lnB>
                  </a:tcPr>
                </a:tc>
                <a:tc>
                  <a:txBody>
                    <a:bodyPr/>
                    <a:lstStyle/>
                    <a:p>
                      <a:pPr indent="0" marL="0">
                        <a:buNone/>
                      </a:pPr>
                      <a:r>
                        <a:rPr lang="en-US" sz="1400" dirty="0">
                          <a:solidFill>
                            <a:srgbClr val="242A44"/>
                          </a:solidFill>
                          <a:latin typeface="Calibri" pitchFamily="34" charset="0"/>
                          <a:ea typeface="Calibri" pitchFamily="34" charset="-122"/>
                          <a:cs typeface="Calibri" pitchFamily="34" charset="-120"/>
                        </a:rPr>
                        <a:t>intfloat/multilingual-e5-large (560M)</a:t>
                      </a:r>
                      <a:endParaRPr lang="en-US" sz="1400" dirty="0">
                        <a:latin typeface="Calibri" charset="0"/>
                        <a:ea typeface="Calibri" charset="0"/>
                        <a:cs typeface="Calibri" charset="0"/>
                      </a:endParaRPr>
                    </a:p>
                  </a:txBody>
                  <a:tcPr marL="91440" marR="91440" marT="45720" marB="45720">
                    <a:lnL w="12700" cap="flat" cmpd="sng" algn="ctr">
                      <a:solidFill>
                        <a:srgbClr val="EEF1F8"/>
                      </a:solidFill>
                      <a:prstDash val="solid"/>
                      <a:round/>
                      <a:headEnd type="none" w="med" len="med"/>
                      <a:tailEnd type="none" w="med" len="med"/>
                    </a:lnL>
                    <a:lnR w="12700" cap="flat" cmpd="sng" algn="ctr">
                      <a:solidFill>
                        <a:srgbClr val="EEF1F8"/>
                      </a:solidFill>
                      <a:prstDash val="solid"/>
                      <a:round/>
                      <a:headEnd type="none" w="med" len="med"/>
                      <a:tailEnd type="none" w="med" len="med"/>
                    </a:lnR>
                    <a:lnT w="12700" cap="flat" cmpd="sng" algn="ctr">
                      <a:solidFill>
                        <a:srgbClr val="EEF1F8"/>
                      </a:solidFill>
                      <a:prstDash val="solid"/>
                      <a:round/>
                      <a:headEnd type="none" w="med" len="med"/>
                      <a:tailEnd type="none" w="med" len="med"/>
                    </a:lnT>
                    <a:lnB w="12700" cap="flat" cmpd="sng" algn="ctr">
                      <a:solidFill>
                        <a:srgbClr val="EEF1F8"/>
                      </a:solidFill>
                      <a:prstDash val="solid"/>
                      <a:round/>
                      <a:headEnd type="none" w="med" len="med"/>
                      <a:tailEnd type="none" w="med" len="med"/>
                    </a:lnB>
                  </a:tcPr>
                </a:tc>
                <a:tc>
                  <a:txBody>
                    <a:bodyPr/>
                    <a:lstStyle/>
                    <a:p>
                      <a:pPr indent="0" marL="0">
                        <a:buNone/>
                      </a:pPr>
                      <a:r>
                        <a:rPr lang="en-US" sz="1400" dirty="0">
                          <a:solidFill>
                            <a:srgbClr val="242A44"/>
                          </a:solidFill>
                          <a:latin typeface="Calibri" pitchFamily="34" charset="0"/>
                          <a:ea typeface="Calibri" pitchFamily="34" charset="-122"/>
                          <a:cs typeface="Calibri" pitchFamily="34" charset="-120"/>
                        </a:rPr>
                        <a:t>HPC CEDIA · TEI (CPU)</a:t>
                      </a:r>
                      <a:endParaRPr lang="en-US" sz="1400" dirty="0">
                        <a:latin typeface="Calibri" charset="0"/>
                        <a:ea typeface="Calibri" charset="0"/>
                        <a:cs typeface="Calibri" charset="0"/>
                      </a:endParaRPr>
                    </a:p>
                  </a:txBody>
                  <a:tcPr marL="91440" marR="91440" marT="45720" marB="45720">
                    <a:lnL w="12700" cap="flat" cmpd="sng" algn="ctr">
                      <a:solidFill>
                        <a:srgbClr val="EEF1F8"/>
                      </a:solidFill>
                      <a:prstDash val="solid"/>
                      <a:round/>
                      <a:headEnd type="none" w="med" len="med"/>
                      <a:tailEnd type="none" w="med" len="med"/>
                    </a:lnL>
                    <a:lnR w="12700" cap="flat" cmpd="sng" algn="ctr">
                      <a:solidFill>
                        <a:srgbClr val="EEF1F8"/>
                      </a:solidFill>
                      <a:prstDash val="solid"/>
                      <a:round/>
                      <a:headEnd type="none" w="med" len="med"/>
                      <a:tailEnd type="none" w="med" len="med"/>
                    </a:lnR>
                    <a:lnT w="12700" cap="flat" cmpd="sng" algn="ctr">
                      <a:solidFill>
                        <a:srgbClr val="EEF1F8"/>
                      </a:solidFill>
                      <a:prstDash val="solid"/>
                      <a:round/>
                      <a:headEnd type="none" w="med" len="med"/>
                      <a:tailEnd type="none" w="med" len="med"/>
                    </a:lnT>
                    <a:lnB w="12700" cap="flat" cmpd="sng" algn="ctr">
                      <a:solidFill>
                        <a:srgbClr val="EEF1F8"/>
                      </a:solidFill>
                      <a:prstDash val="solid"/>
                      <a:round/>
                      <a:headEnd type="none" w="med" len="med"/>
                      <a:tailEnd type="none" w="med" len="med"/>
                    </a:lnB>
                  </a:tcPr>
                </a:tc>
              </a:tr>
              <a:tr h="548640">
                <a:tc>
                  <a:txBody>
                    <a:bodyPr/>
                    <a:lstStyle/>
                    <a:p>
                      <a:pPr indent="0" marL="0">
                        <a:buNone/>
                      </a:pPr>
                      <a:r>
                        <a:rPr lang="en-US" sz="1400" dirty="0">
                          <a:solidFill>
                            <a:srgbClr val="242A44"/>
                          </a:solidFill>
                          <a:latin typeface="Calibri" pitchFamily="34" charset="0"/>
                          <a:ea typeface="Calibri" pitchFamily="34" charset="-122"/>
                          <a:cs typeface="Calibri" pitchFamily="34" charset="-120"/>
                        </a:rPr>
                        <a:t>Generación</a:t>
                      </a:r>
                      <a:endParaRPr lang="en-US" sz="1400" dirty="0">
                        <a:latin typeface="Calibri" charset="0"/>
                        <a:ea typeface="Calibri" charset="0"/>
                        <a:cs typeface="Calibri" charset="0"/>
                      </a:endParaRPr>
                    </a:p>
                  </a:txBody>
                  <a:tcPr marL="91440" marR="91440" marT="45720" marB="45720">
                    <a:lnL w="12700" cap="flat" cmpd="sng" algn="ctr">
                      <a:solidFill>
                        <a:srgbClr val="EEF1F8"/>
                      </a:solidFill>
                      <a:prstDash val="solid"/>
                      <a:round/>
                      <a:headEnd type="none" w="med" len="med"/>
                      <a:tailEnd type="none" w="med" len="med"/>
                    </a:lnL>
                    <a:lnR w="12700" cap="flat" cmpd="sng" algn="ctr">
                      <a:solidFill>
                        <a:srgbClr val="EEF1F8"/>
                      </a:solidFill>
                      <a:prstDash val="solid"/>
                      <a:round/>
                      <a:headEnd type="none" w="med" len="med"/>
                      <a:tailEnd type="none" w="med" len="med"/>
                    </a:lnR>
                    <a:lnT w="12700" cap="flat" cmpd="sng" algn="ctr">
                      <a:solidFill>
                        <a:srgbClr val="EEF1F8"/>
                      </a:solidFill>
                      <a:prstDash val="solid"/>
                      <a:round/>
                      <a:headEnd type="none" w="med" len="med"/>
                      <a:tailEnd type="none" w="med" len="med"/>
                    </a:lnT>
                    <a:lnB w="12700" cap="flat" cmpd="sng" algn="ctr">
                      <a:solidFill>
                        <a:srgbClr val="EEF1F8"/>
                      </a:solidFill>
                      <a:prstDash val="solid"/>
                      <a:round/>
                      <a:headEnd type="none" w="med" len="med"/>
                      <a:tailEnd type="none" w="med" len="med"/>
                    </a:lnB>
                  </a:tcPr>
                </a:tc>
                <a:tc>
                  <a:txBody>
                    <a:bodyPr/>
                    <a:lstStyle/>
                    <a:p>
                      <a:pPr indent="0" marL="0">
                        <a:buNone/>
                      </a:pPr>
                      <a:r>
                        <a:rPr lang="en-US" sz="1400" dirty="0">
                          <a:solidFill>
                            <a:srgbClr val="242A44"/>
                          </a:solidFill>
                          <a:latin typeface="Calibri" pitchFamily="34" charset="0"/>
                          <a:ea typeface="Calibri" pitchFamily="34" charset="-122"/>
                          <a:cs typeface="Calibri" pitchFamily="34" charset="-120"/>
                        </a:rPr>
                        <a:t>Qwen/Qwen2.5-7B-Instruct</a:t>
                      </a:r>
                      <a:endParaRPr lang="en-US" sz="1400" dirty="0">
                        <a:latin typeface="Calibri" charset="0"/>
                        <a:ea typeface="Calibri" charset="0"/>
                        <a:cs typeface="Calibri" charset="0"/>
                      </a:endParaRPr>
                    </a:p>
                  </a:txBody>
                  <a:tcPr marL="91440" marR="91440" marT="45720" marB="45720">
                    <a:lnL w="12700" cap="flat" cmpd="sng" algn="ctr">
                      <a:solidFill>
                        <a:srgbClr val="EEF1F8"/>
                      </a:solidFill>
                      <a:prstDash val="solid"/>
                      <a:round/>
                      <a:headEnd type="none" w="med" len="med"/>
                      <a:tailEnd type="none" w="med" len="med"/>
                    </a:lnL>
                    <a:lnR w="12700" cap="flat" cmpd="sng" algn="ctr">
                      <a:solidFill>
                        <a:srgbClr val="EEF1F8"/>
                      </a:solidFill>
                      <a:prstDash val="solid"/>
                      <a:round/>
                      <a:headEnd type="none" w="med" len="med"/>
                      <a:tailEnd type="none" w="med" len="med"/>
                    </a:lnR>
                    <a:lnT w="12700" cap="flat" cmpd="sng" algn="ctr">
                      <a:solidFill>
                        <a:srgbClr val="EEF1F8"/>
                      </a:solidFill>
                      <a:prstDash val="solid"/>
                      <a:round/>
                      <a:headEnd type="none" w="med" len="med"/>
                      <a:tailEnd type="none" w="med" len="med"/>
                    </a:lnT>
                    <a:lnB w="12700" cap="flat" cmpd="sng" algn="ctr">
                      <a:solidFill>
                        <a:srgbClr val="EEF1F8"/>
                      </a:solidFill>
                      <a:prstDash val="solid"/>
                      <a:round/>
                      <a:headEnd type="none" w="med" len="med"/>
                      <a:tailEnd type="none" w="med" len="med"/>
                    </a:lnB>
                  </a:tcPr>
                </a:tc>
                <a:tc>
                  <a:txBody>
                    <a:bodyPr/>
                    <a:lstStyle/>
                    <a:p>
                      <a:pPr indent="0" marL="0">
                        <a:buNone/>
                      </a:pPr>
                      <a:r>
                        <a:rPr lang="en-US" sz="1400" dirty="0">
                          <a:solidFill>
                            <a:srgbClr val="242A44"/>
                          </a:solidFill>
                          <a:latin typeface="Calibri" pitchFamily="34" charset="0"/>
                          <a:ea typeface="Calibri" pitchFamily="34" charset="-122"/>
                          <a:cs typeface="Calibri" pitchFamily="34" charset="-120"/>
                        </a:rPr>
                        <a:t>HPC CEDIA · vLLM (GPU A100)</a:t>
                      </a:r>
                      <a:endParaRPr lang="en-US" sz="1400" dirty="0">
                        <a:latin typeface="Calibri" charset="0"/>
                        <a:ea typeface="Calibri" charset="0"/>
                        <a:cs typeface="Calibri" charset="0"/>
                      </a:endParaRPr>
                    </a:p>
                  </a:txBody>
                  <a:tcPr marL="91440" marR="91440" marT="45720" marB="45720">
                    <a:lnL w="12700" cap="flat" cmpd="sng" algn="ctr">
                      <a:solidFill>
                        <a:srgbClr val="EEF1F8"/>
                      </a:solidFill>
                      <a:prstDash val="solid"/>
                      <a:round/>
                      <a:headEnd type="none" w="med" len="med"/>
                      <a:tailEnd type="none" w="med" len="med"/>
                    </a:lnL>
                    <a:lnR w="12700" cap="flat" cmpd="sng" algn="ctr">
                      <a:solidFill>
                        <a:srgbClr val="EEF1F8"/>
                      </a:solidFill>
                      <a:prstDash val="solid"/>
                      <a:round/>
                      <a:headEnd type="none" w="med" len="med"/>
                      <a:tailEnd type="none" w="med" len="med"/>
                    </a:lnR>
                    <a:lnT w="12700" cap="flat" cmpd="sng" algn="ctr">
                      <a:solidFill>
                        <a:srgbClr val="EEF1F8"/>
                      </a:solidFill>
                      <a:prstDash val="solid"/>
                      <a:round/>
                      <a:headEnd type="none" w="med" len="med"/>
                      <a:tailEnd type="none" w="med" len="med"/>
                    </a:lnT>
                    <a:lnB w="12700" cap="flat" cmpd="sng" algn="ctr">
                      <a:solidFill>
                        <a:srgbClr val="EEF1F8"/>
                      </a:solidFill>
                      <a:prstDash val="solid"/>
                      <a:round/>
                      <a:headEnd type="none" w="med" len="med"/>
                      <a:tailEnd type="none" w="med" len="med"/>
                    </a:lnB>
                  </a:tcPr>
                </a:tc>
              </a:tr>
              <a:tr h="548640">
                <a:tc>
                  <a:txBody>
                    <a:bodyPr/>
                    <a:lstStyle/>
                    <a:p>
                      <a:pPr indent="0" marL="0">
                        <a:buNone/>
                      </a:pPr>
                      <a:r>
                        <a:rPr lang="en-US" sz="1400" dirty="0">
                          <a:solidFill>
                            <a:srgbClr val="242A44"/>
                          </a:solidFill>
                          <a:latin typeface="Calibri" pitchFamily="34" charset="0"/>
                          <a:ea typeface="Calibri" pitchFamily="34" charset="-122"/>
                          <a:cs typeface="Calibri" pitchFamily="34" charset="-120"/>
                        </a:rPr>
                        <a:t>Recuperación</a:t>
                      </a:r>
                      <a:endParaRPr lang="en-US" sz="1400" dirty="0">
                        <a:latin typeface="Calibri" charset="0"/>
                        <a:ea typeface="Calibri" charset="0"/>
                        <a:cs typeface="Calibri" charset="0"/>
                      </a:endParaRPr>
                    </a:p>
                  </a:txBody>
                  <a:tcPr marL="91440" marR="91440" marT="45720" marB="45720">
                    <a:lnL w="12700" cap="flat" cmpd="sng" algn="ctr">
                      <a:solidFill>
                        <a:srgbClr val="EEF1F8"/>
                      </a:solidFill>
                      <a:prstDash val="solid"/>
                      <a:round/>
                      <a:headEnd type="none" w="med" len="med"/>
                      <a:tailEnd type="none" w="med" len="med"/>
                    </a:lnL>
                    <a:lnR w="12700" cap="flat" cmpd="sng" algn="ctr">
                      <a:solidFill>
                        <a:srgbClr val="EEF1F8"/>
                      </a:solidFill>
                      <a:prstDash val="solid"/>
                      <a:round/>
                      <a:headEnd type="none" w="med" len="med"/>
                      <a:tailEnd type="none" w="med" len="med"/>
                    </a:lnR>
                    <a:lnT w="12700" cap="flat" cmpd="sng" algn="ctr">
                      <a:solidFill>
                        <a:srgbClr val="EEF1F8"/>
                      </a:solidFill>
                      <a:prstDash val="solid"/>
                      <a:round/>
                      <a:headEnd type="none" w="med" len="med"/>
                      <a:tailEnd type="none" w="med" len="med"/>
                    </a:lnT>
                    <a:lnB w="12700" cap="flat" cmpd="sng" algn="ctr">
                      <a:solidFill>
                        <a:srgbClr val="EEF1F8"/>
                      </a:solidFill>
                      <a:prstDash val="solid"/>
                      <a:round/>
                      <a:headEnd type="none" w="med" len="med"/>
                      <a:tailEnd type="none" w="med" len="med"/>
                    </a:lnB>
                  </a:tcPr>
                </a:tc>
                <a:tc>
                  <a:txBody>
                    <a:bodyPr/>
                    <a:lstStyle/>
                    <a:p>
                      <a:pPr indent="0" marL="0">
                        <a:buNone/>
                      </a:pPr>
                      <a:r>
                        <a:rPr lang="en-US" sz="1400" dirty="0">
                          <a:solidFill>
                            <a:srgbClr val="242A44"/>
                          </a:solidFill>
                          <a:latin typeface="Calibri" pitchFamily="34" charset="0"/>
                          <a:ea typeface="Calibri" pitchFamily="34" charset="-122"/>
                          <a:cs typeface="Calibri" pitchFamily="34" charset="-120"/>
                        </a:rPr>
                        <a:t>LanceDB (vector) + BM25 (palabra clave), fusión RRF</a:t>
                      </a:r>
                      <a:endParaRPr lang="en-US" sz="1400" dirty="0">
                        <a:latin typeface="Calibri" charset="0"/>
                        <a:ea typeface="Calibri" charset="0"/>
                        <a:cs typeface="Calibri" charset="0"/>
                      </a:endParaRPr>
                    </a:p>
                  </a:txBody>
                  <a:tcPr marL="91440" marR="91440" marT="45720" marB="45720">
                    <a:lnL w="12700" cap="flat" cmpd="sng" algn="ctr">
                      <a:solidFill>
                        <a:srgbClr val="EEF1F8"/>
                      </a:solidFill>
                      <a:prstDash val="solid"/>
                      <a:round/>
                      <a:headEnd type="none" w="med" len="med"/>
                      <a:tailEnd type="none" w="med" len="med"/>
                    </a:lnL>
                    <a:lnR w="12700" cap="flat" cmpd="sng" algn="ctr">
                      <a:solidFill>
                        <a:srgbClr val="EEF1F8"/>
                      </a:solidFill>
                      <a:prstDash val="solid"/>
                      <a:round/>
                      <a:headEnd type="none" w="med" len="med"/>
                      <a:tailEnd type="none" w="med" len="med"/>
                    </a:lnR>
                    <a:lnT w="12700" cap="flat" cmpd="sng" algn="ctr">
                      <a:solidFill>
                        <a:srgbClr val="EEF1F8"/>
                      </a:solidFill>
                      <a:prstDash val="solid"/>
                      <a:round/>
                      <a:headEnd type="none" w="med" len="med"/>
                      <a:tailEnd type="none" w="med" len="med"/>
                    </a:lnT>
                    <a:lnB w="12700" cap="flat" cmpd="sng" algn="ctr">
                      <a:solidFill>
                        <a:srgbClr val="EEF1F8"/>
                      </a:solidFill>
                      <a:prstDash val="solid"/>
                      <a:round/>
                      <a:headEnd type="none" w="med" len="med"/>
                      <a:tailEnd type="none" w="med" len="med"/>
                    </a:lnB>
                  </a:tcPr>
                </a:tc>
                <a:tc>
                  <a:txBody>
                    <a:bodyPr/>
                    <a:lstStyle/>
                    <a:p>
                      <a:pPr indent="0" marL="0">
                        <a:buNone/>
                      </a:pPr>
                      <a:r>
                        <a:rPr lang="en-US" sz="1400" dirty="0">
                          <a:solidFill>
                            <a:srgbClr val="242A44"/>
                          </a:solidFill>
                          <a:latin typeface="Calibri" pitchFamily="34" charset="0"/>
                          <a:ea typeface="Calibri" pitchFamily="34" charset="-122"/>
                          <a:cs typeface="Calibri" pitchFamily="34" charset="-120"/>
                        </a:rPr>
                        <a:t>VPS de producción</a:t>
                      </a:r>
                      <a:endParaRPr lang="en-US" sz="1400" dirty="0">
                        <a:latin typeface="Calibri" charset="0"/>
                        <a:ea typeface="Calibri" charset="0"/>
                        <a:cs typeface="Calibri" charset="0"/>
                      </a:endParaRPr>
                    </a:p>
                  </a:txBody>
                  <a:tcPr marL="91440" marR="91440" marT="45720" marB="45720">
                    <a:lnL w="12700" cap="flat" cmpd="sng" algn="ctr">
                      <a:solidFill>
                        <a:srgbClr val="EEF1F8"/>
                      </a:solidFill>
                      <a:prstDash val="solid"/>
                      <a:round/>
                      <a:headEnd type="none" w="med" len="med"/>
                      <a:tailEnd type="none" w="med" len="med"/>
                    </a:lnL>
                    <a:lnR w="12700" cap="flat" cmpd="sng" algn="ctr">
                      <a:solidFill>
                        <a:srgbClr val="EEF1F8"/>
                      </a:solidFill>
                      <a:prstDash val="solid"/>
                      <a:round/>
                      <a:headEnd type="none" w="med" len="med"/>
                      <a:tailEnd type="none" w="med" len="med"/>
                    </a:lnR>
                    <a:lnT w="12700" cap="flat" cmpd="sng" algn="ctr">
                      <a:solidFill>
                        <a:srgbClr val="EEF1F8"/>
                      </a:solidFill>
                      <a:prstDash val="solid"/>
                      <a:round/>
                      <a:headEnd type="none" w="med" len="med"/>
                      <a:tailEnd type="none" w="med" len="med"/>
                    </a:lnT>
                    <a:lnB w="12700" cap="flat" cmpd="sng" algn="ctr">
                      <a:solidFill>
                        <a:srgbClr val="EEF1F8"/>
                      </a:solidFill>
                      <a:prstDash val="solid"/>
                      <a:round/>
                      <a:headEnd type="none" w="med" len="med"/>
                      <a:tailEnd type="none" w="med" len="med"/>
                    </a:lnB>
                  </a:tcPr>
                </a:tc>
              </a:tr>
            </a:tbl>
          </a:graphicData>
        </a:graphic>
      </p:graphicFrame>
      <p:sp>
        <p:nvSpPr>
          <p:cNvPr id="4" name="Shape 1"/>
          <p:cNvSpPr/>
          <p:nvPr/>
        </p:nvSpPr>
        <p:spPr>
          <a:xfrm>
            <a:off x="640080" y="3977640"/>
            <a:ext cx="5294376" cy="2377440"/>
          </a:xfrm>
          <a:prstGeom prst="roundRect">
            <a:avLst>
              <a:gd name="adj" fmla="val 3077"/>
            </a:avLst>
          </a:prstGeom>
          <a:solidFill>
            <a:srgbClr val="EEF1F8"/>
          </a:solidFill>
          <a:ln/>
          <a:effectLst>
            <a:outerShdw sx="100000" sy="100000" kx="0" ky="0" algn="bl" rotWithShape="0" blurRad="76200" dist="25400" dir="5400000">
              <a:srgbClr val="000000">
                <a:alpha val="12000"/>
              </a:srgbClr>
            </a:outerShdw>
          </a:effectLst>
        </p:spPr>
      </p:sp>
      <p:sp>
        <p:nvSpPr>
          <p:cNvPr id="5" name="Shape 2"/>
          <p:cNvSpPr/>
          <p:nvPr/>
        </p:nvSpPr>
        <p:spPr>
          <a:xfrm>
            <a:off x="868680" y="4206240"/>
            <a:ext cx="384048" cy="384048"/>
          </a:xfrm>
          <a:prstGeom prst="ellipse">
            <a:avLst/>
          </a:prstGeom>
          <a:solidFill>
            <a:srgbClr val="11838D"/>
          </a:solidFill>
          <a:ln/>
        </p:spPr>
      </p:sp>
      <p:sp>
        <p:nvSpPr>
          <p:cNvPr id="6" name="Text 3"/>
          <p:cNvSpPr txBox="1"/>
          <p:nvPr/>
        </p:nvSpPr>
        <p:spPr>
          <a:xfrm>
            <a:off x="1371600" y="4178808"/>
            <a:ext cx="4379976" cy="457200"/>
          </a:xfrm>
          <a:prstGeom prst="rect">
            <a:avLst/>
          </a:prstGeom>
          <a:noFill/>
          <a:ln/>
        </p:spPr>
        <p:txBody>
          <a:bodyPr wrap="square" lIns="0" tIns="0" rIns="0" bIns="0" rtlCol="0" anchor="ctr"/>
          <a:lstStyle/>
          <a:p>
            <a:pPr indent="0" marL="0">
              <a:buNone/>
            </a:pPr>
            <a:r>
              <a:rPr lang="en-US" sz="1500" b="1" dirty="0">
                <a:solidFill>
                  <a:srgbClr val="121526"/>
                </a:solidFill>
                <a:latin typeface="Cambria" pitchFamily="34" charset="0"/>
                <a:ea typeface="Cambria" pitchFamily="34" charset="-122"/>
                <a:cs typeface="Cambria" pitchFamily="34" charset="-120"/>
              </a:rPr>
              <a:t>¿Por qué LanceDB + BM25?</a:t>
            </a:r>
            <a:endParaRPr lang="en-US" sz="1500" dirty="0"/>
          </a:p>
        </p:txBody>
      </p:sp>
      <p:sp>
        <p:nvSpPr>
          <p:cNvPr id="7" name="Text 4"/>
          <p:cNvSpPr txBox="1"/>
          <p:nvPr/>
        </p:nvSpPr>
        <p:spPr>
          <a:xfrm>
            <a:off x="914400" y="4727448"/>
            <a:ext cx="4745736" cy="1463040"/>
          </a:xfrm>
          <a:prstGeom prst="rect">
            <a:avLst/>
          </a:prstGeom>
          <a:noFill/>
          <a:ln/>
        </p:spPr>
        <p:txBody>
          <a:bodyPr wrap="square" lIns="0" tIns="0" rIns="0" bIns="0" rtlCol="0" anchor="t"/>
          <a:lstStyle/>
          <a:p>
            <a:pPr indent="0" marL="0">
              <a:buNone/>
            </a:pPr>
            <a:r>
              <a:rPr lang="en-US" sz="1200" dirty="0">
                <a:solidFill>
                  <a:srgbClr val="242A44"/>
                </a:solidFill>
                <a:latin typeface="Calibri" pitchFamily="34" charset="0"/>
                <a:ea typeface="Calibri" pitchFamily="34" charset="-122"/>
                <a:cs typeface="Calibri" pitchFamily="34" charset="-120"/>
              </a:rPr>
              <a:t>El volumen no exige un vector store dedicado, pero se eligió uno (embebido, más liviano que Chroma) para demostrar el componente de IA. BM25 se sumó para no perder un artículo que comparte una palabra exacta con la consulta pero que el embedding no ubica entre los más similares.</a:t>
            </a:r>
            <a:endParaRPr lang="en-US" sz="1200" dirty="0"/>
          </a:p>
        </p:txBody>
      </p:sp>
      <p:sp>
        <p:nvSpPr>
          <p:cNvPr id="8" name="Shape 5"/>
          <p:cNvSpPr/>
          <p:nvPr/>
        </p:nvSpPr>
        <p:spPr>
          <a:xfrm>
            <a:off x="6254496" y="3977640"/>
            <a:ext cx="5294376" cy="2377440"/>
          </a:xfrm>
          <a:prstGeom prst="roundRect">
            <a:avLst>
              <a:gd name="adj" fmla="val 3077"/>
            </a:avLst>
          </a:prstGeom>
          <a:solidFill>
            <a:srgbClr val="EEF1F8"/>
          </a:solidFill>
          <a:ln/>
          <a:effectLst>
            <a:outerShdw sx="100000" sy="100000" kx="0" ky="0" algn="bl" rotWithShape="0" blurRad="76200" dist="25400" dir="5400000">
              <a:srgbClr val="000000">
                <a:alpha val="12000"/>
              </a:srgbClr>
            </a:outerShdw>
          </a:effectLst>
        </p:spPr>
      </p:sp>
      <p:sp>
        <p:nvSpPr>
          <p:cNvPr id="9" name="Shape 6"/>
          <p:cNvSpPr/>
          <p:nvPr/>
        </p:nvSpPr>
        <p:spPr>
          <a:xfrm>
            <a:off x="6483096" y="4206240"/>
            <a:ext cx="384048" cy="384048"/>
          </a:xfrm>
          <a:prstGeom prst="ellipse">
            <a:avLst/>
          </a:prstGeom>
          <a:solidFill>
            <a:srgbClr val="1AA3AF"/>
          </a:solidFill>
          <a:ln/>
        </p:spPr>
      </p:sp>
      <p:sp>
        <p:nvSpPr>
          <p:cNvPr id="10" name="Text 7"/>
          <p:cNvSpPr txBox="1"/>
          <p:nvPr/>
        </p:nvSpPr>
        <p:spPr>
          <a:xfrm>
            <a:off x="6986016" y="4178808"/>
            <a:ext cx="4379976" cy="457200"/>
          </a:xfrm>
          <a:prstGeom prst="rect">
            <a:avLst/>
          </a:prstGeom>
          <a:noFill/>
          <a:ln/>
        </p:spPr>
        <p:txBody>
          <a:bodyPr wrap="square" lIns="0" tIns="0" rIns="0" bIns="0" rtlCol="0" anchor="ctr"/>
          <a:lstStyle/>
          <a:p>
            <a:pPr indent="0" marL="0">
              <a:buNone/>
            </a:pPr>
            <a:r>
              <a:rPr lang="en-US" sz="1500" b="1" dirty="0">
                <a:solidFill>
                  <a:srgbClr val="121526"/>
                </a:solidFill>
                <a:latin typeface="Cambria" pitchFamily="34" charset="0"/>
                <a:ea typeface="Cambria" pitchFamily="34" charset="-122"/>
                <a:cs typeface="Cambria" pitchFamily="34" charset="-120"/>
              </a:rPr>
              <a:t>Comparación con baseline</a:t>
            </a:r>
            <a:endParaRPr lang="en-US" sz="1500" dirty="0"/>
          </a:p>
        </p:txBody>
      </p:sp>
      <p:sp>
        <p:nvSpPr>
          <p:cNvPr id="11" name="Text 8"/>
          <p:cNvSpPr txBox="1"/>
          <p:nvPr/>
        </p:nvSpPr>
        <p:spPr>
          <a:xfrm>
            <a:off x="6528816" y="4727448"/>
            <a:ext cx="4745736" cy="1463040"/>
          </a:xfrm>
          <a:prstGeom prst="rect">
            <a:avLst/>
          </a:prstGeom>
          <a:noFill/>
          <a:ln/>
        </p:spPr>
        <p:txBody>
          <a:bodyPr wrap="square" lIns="0" tIns="0" rIns="0" bIns="0" rtlCol="0" anchor="t"/>
          <a:lstStyle/>
          <a:p>
            <a:pPr indent="0" marL="0">
              <a:buNone/>
            </a:pPr>
            <a:r>
              <a:rPr lang="en-US" sz="1200" dirty="0">
                <a:solidFill>
                  <a:srgbClr val="242A44"/>
                </a:solidFill>
                <a:latin typeface="Calibri" pitchFamily="34" charset="0"/>
                <a:ea typeface="Calibri" pitchFamily="34" charset="-122"/>
                <a:cs typeface="Calibri" pitchFamily="34" charset="-120"/>
              </a:rPr>
              <a:t>RunEvaluationUseCase corre cada pregunta con y sin RAG, y califica si la respuesta cita el artículo esperado — así se mide el aporte real de la recuperación.</a:t>
            </a:r>
            <a:endParaRPr lang="en-US" sz="1200" dirty="0"/>
          </a:p>
        </p:txBody>
      </p:sp>
      <p:sp>
        <p:nvSpPr>
          <p:cNvPr id="25" name="Slide Number Placeholder 0"/>
          <p:cNvSpPr>
            <a:spLocks noGrp="1"/>
          </p:cNvSpPr>
          <p:nvPr>
            <p:ph type="sldNum" sz="quarter" idx="4294967295"/>
          </p:nvPr>
        </p:nvSpPr>
        <p:spPr>
          <a:xfrm>
            <a:off x="11521440" y="649224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7728F"/>
                </a:solidFill>
                <a:latin typeface="Calibri"/>
                <a:ea typeface="Calibri"/>
                <a:cs typeface="Calibri"/>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640080" y="457200"/>
            <a:ext cx="10881360" cy="822960"/>
          </a:xfrm>
          <a:prstGeom prst="rect">
            <a:avLst/>
          </a:prstGeom>
          <a:noFill/>
          <a:ln/>
        </p:spPr>
        <p:txBody>
          <a:bodyPr wrap="square" rtlCol="0"/>
          <a:lstStyle/>
          <a:p>
            <a:pPr algn="l" indent="0" marL="0">
              <a:buNone/>
            </a:pPr>
            <a:r>
              <a:rPr lang="en-US" sz="3000" b="1" dirty="0">
                <a:solidFill>
                  <a:srgbClr val="121526"/>
                </a:solidFill>
                <a:latin typeface="Cambria" pitchFamily="34" charset="0"/>
                <a:ea typeface="Cambria" pitchFamily="34" charset="-122"/>
                <a:cs typeface="Cambria" pitchFamily="34" charset="-120"/>
              </a:rPr>
              <a:t>Resultados: calidad técnica verificada y un bug real encontrado y corregido</a:t>
            </a:r>
            <a:endParaRPr lang="en-US" sz="3000" dirty="0"/>
          </a:p>
        </p:txBody>
      </p:sp>
      <p:sp>
        <p:nvSpPr>
          <p:cNvPr id="3" name="Text 1"/>
          <p:cNvSpPr txBox="1"/>
          <p:nvPr/>
        </p:nvSpPr>
        <p:spPr>
          <a:xfrm>
            <a:off x="640080" y="1600200"/>
            <a:ext cx="2523744" cy="914400"/>
          </a:xfrm>
          <a:prstGeom prst="rect">
            <a:avLst/>
          </a:prstGeom>
          <a:noFill/>
          <a:ln/>
        </p:spPr>
        <p:txBody>
          <a:bodyPr wrap="square" lIns="0" tIns="0" rIns="0" bIns="0" rtlCol="0" anchor="ctr"/>
          <a:lstStyle/>
          <a:p>
            <a:pPr algn="ctr" indent="0" marL="0">
              <a:buNone/>
            </a:pPr>
            <a:r>
              <a:rPr lang="en-US" sz="4800" b="1" dirty="0">
                <a:solidFill>
                  <a:srgbClr val="1AA3AF"/>
                </a:solidFill>
                <a:latin typeface="Cambria" pitchFamily="34" charset="0"/>
                <a:ea typeface="Cambria" pitchFamily="34" charset="-122"/>
                <a:cs typeface="Cambria" pitchFamily="34" charset="-120"/>
              </a:rPr>
              <a:t>118</a:t>
            </a:r>
            <a:endParaRPr lang="en-US" sz="4800" dirty="0"/>
          </a:p>
        </p:txBody>
      </p:sp>
      <p:sp>
        <p:nvSpPr>
          <p:cNvPr id="4" name="Text 2"/>
          <p:cNvSpPr txBox="1"/>
          <p:nvPr/>
        </p:nvSpPr>
        <p:spPr>
          <a:xfrm>
            <a:off x="640080" y="2468880"/>
            <a:ext cx="2523744" cy="640080"/>
          </a:xfrm>
          <a:prstGeom prst="rect">
            <a:avLst/>
          </a:prstGeom>
          <a:noFill/>
          <a:ln/>
        </p:spPr>
        <p:txBody>
          <a:bodyPr wrap="square" lIns="0" tIns="0" rIns="0" bIns="0" rtlCol="0" anchor="ctr"/>
          <a:lstStyle/>
          <a:p>
            <a:pPr algn="ctr" indent="0" marL="0">
              <a:buNone/>
            </a:pPr>
            <a:r>
              <a:rPr lang="en-US" sz="1200" dirty="0">
                <a:solidFill>
                  <a:srgbClr val="242A44"/>
                </a:solidFill>
                <a:latin typeface="Calibri" pitchFamily="34" charset="0"/>
                <a:ea typeface="Calibri" pitchFamily="34" charset="-122"/>
                <a:cs typeface="Calibri" pitchFamily="34" charset="-120"/>
              </a:rPr>
              <a:t>pruebas backend (pytest)</a:t>
            </a:r>
            <a:endParaRPr lang="en-US" sz="1200" dirty="0"/>
          </a:p>
        </p:txBody>
      </p:sp>
      <p:sp>
        <p:nvSpPr>
          <p:cNvPr id="5" name="Text 3"/>
          <p:cNvSpPr txBox="1"/>
          <p:nvPr/>
        </p:nvSpPr>
        <p:spPr>
          <a:xfrm>
            <a:off x="3438144" y="1600200"/>
            <a:ext cx="2523744" cy="914400"/>
          </a:xfrm>
          <a:prstGeom prst="rect">
            <a:avLst/>
          </a:prstGeom>
          <a:noFill/>
          <a:ln/>
        </p:spPr>
        <p:txBody>
          <a:bodyPr wrap="square" lIns="0" tIns="0" rIns="0" bIns="0" rtlCol="0" anchor="ctr"/>
          <a:lstStyle/>
          <a:p>
            <a:pPr algn="ctr" indent="0" marL="0">
              <a:buNone/>
            </a:pPr>
            <a:r>
              <a:rPr lang="en-US" sz="4800" b="1" dirty="0">
                <a:solidFill>
                  <a:srgbClr val="414C74"/>
                </a:solidFill>
                <a:latin typeface="Cambria" pitchFamily="34" charset="0"/>
                <a:ea typeface="Cambria" pitchFamily="34" charset="-122"/>
                <a:cs typeface="Cambria" pitchFamily="34" charset="-120"/>
              </a:rPr>
              <a:t>19</a:t>
            </a:r>
            <a:endParaRPr lang="en-US" sz="4800" dirty="0"/>
          </a:p>
        </p:txBody>
      </p:sp>
      <p:sp>
        <p:nvSpPr>
          <p:cNvPr id="6" name="Text 4"/>
          <p:cNvSpPr txBox="1"/>
          <p:nvPr/>
        </p:nvSpPr>
        <p:spPr>
          <a:xfrm>
            <a:off x="3438144" y="2468880"/>
            <a:ext cx="2523744" cy="640080"/>
          </a:xfrm>
          <a:prstGeom prst="rect">
            <a:avLst/>
          </a:prstGeom>
          <a:noFill/>
          <a:ln/>
        </p:spPr>
        <p:txBody>
          <a:bodyPr wrap="square" lIns="0" tIns="0" rIns="0" bIns="0" rtlCol="0" anchor="ctr"/>
          <a:lstStyle/>
          <a:p>
            <a:pPr algn="ctr" indent="0" marL="0">
              <a:buNone/>
            </a:pPr>
            <a:r>
              <a:rPr lang="en-US" sz="1200" dirty="0">
                <a:solidFill>
                  <a:srgbClr val="242A44"/>
                </a:solidFill>
                <a:latin typeface="Calibri" pitchFamily="34" charset="0"/>
                <a:ea typeface="Calibri" pitchFamily="34" charset="-122"/>
                <a:cs typeface="Calibri" pitchFamily="34" charset="-120"/>
              </a:rPr>
              <a:t>pruebas frontend (vitest)</a:t>
            </a:r>
            <a:endParaRPr lang="en-US" sz="1200" dirty="0"/>
          </a:p>
        </p:txBody>
      </p:sp>
      <p:sp>
        <p:nvSpPr>
          <p:cNvPr id="7" name="Text 5"/>
          <p:cNvSpPr txBox="1"/>
          <p:nvPr/>
        </p:nvSpPr>
        <p:spPr>
          <a:xfrm>
            <a:off x="6236208" y="1600200"/>
            <a:ext cx="2523744" cy="914400"/>
          </a:xfrm>
          <a:prstGeom prst="rect">
            <a:avLst/>
          </a:prstGeom>
          <a:noFill/>
          <a:ln/>
        </p:spPr>
        <p:txBody>
          <a:bodyPr wrap="square" lIns="0" tIns="0" rIns="0" bIns="0" rtlCol="0" anchor="ctr"/>
          <a:lstStyle/>
          <a:p>
            <a:pPr algn="ctr" indent="0" marL="0">
              <a:buNone/>
            </a:pPr>
            <a:r>
              <a:rPr lang="en-US" sz="4800" b="1" dirty="0">
                <a:solidFill>
                  <a:srgbClr val="11838D"/>
                </a:solidFill>
                <a:latin typeface="Cambria" pitchFamily="34" charset="0"/>
                <a:ea typeface="Cambria" pitchFamily="34" charset="-122"/>
                <a:cs typeface="Cambria" pitchFamily="34" charset="-120"/>
              </a:rPr>
              <a:t>372</a:t>
            </a:r>
            <a:endParaRPr lang="en-US" sz="4800" dirty="0"/>
          </a:p>
        </p:txBody>
      </p:sp>
      <p:sp>
        <p:nvSpPr>
          <p:cNvPr id="8" name="Text 6"/>
          <p:cNvSpPr txBox="1"/>
          <p:nvPr/>
        </p:nvSpPr>
        <p:spPr>
          <a:xfrm>
            <a:off x="6236208" y="2468880"/>
            <a:ext cx="2523744" cy="640080"/>
          </a:xfrm>
          <a:prstGeom prst="rect">
            <a:avLst/>
          </a:prstGeom>
          <a:noFill/>
          <a:ln/>
        </p:spPr>
        <p:txBody>
          <a:bodyPr wrap="square" lIns="0" tIns="0" rIns="0" bIns="0" rtlCol="0" anchor="ctr"/>
          <a:lstStyle/>
          <a:p>
            <a:pPr algn="ctr" indent="0" marL="0">
              <a:buNone/>
            </a:pPr>
            <a:r>
              <a:rPr lang="en-US" sz="1200" dirty="0">
                <a:solidFill>
                  <a:srgbClr val="242A44"/>
                </a:solidFill>
                <a:latin typeface="Calibri" pitchFamily="34" charset="0"/>
                <a:ea typeface="Calibri" pitchFamily="34" charset="-122"/>
                <a:cs typeface="Calibri" pitchFamily="34" charset="-120"/>
              </a:rPr>
              <a:t>claves i18n, 4 idiomas</a:t>
            </a:r>
            <a:endParaRPr lang="en-US" sz="1200" dirty="0"/>
          </a:p>
        </p:txBody>
      </p:sp>
      <p:sp>
        <p:nvSpPr>
          <p:cNvPr id="9" name="Text 7"/>
          <p:cNvSpPr txBox="1"/>
          <p:nvPr/>
        </p:nvSpPr>
        <p:spPr>
          <a:xfrm>
            <a:off x="9034272" y="1600200"/>
            <a:ext cx="2523744" cy="914400"/>
          </a:xfrm>
          <a:prstGeom prst="rect">
            <a:avLst/>
          </a:prstGeom>
          <a:noFill/>
          <a:ln/>
        </p:spPr>
        <p:txBody>
          <a:bodyPr wrap="square" lIns="0" tIns="0" rIns="0" bIns="0" rtlCol="0" anchor="ctr"/>
          <a:lstStyle/>
          <a:p>
            <a:pPr algn="ctr" indent="0" marL="0">
              <a:buNone/>
            </a:pPr>
            <a:r>
              <a:rPr lang="en-US" sz="4800" b="1" dirty="0">
                <a:solidFill>
                  <a:srgbClr val="67728F"/>
                </a:solidFill>
                <a:latin typeface="Cambria" pitchFamily="34" charset="0"/>
                <a:ea typeface="Cambria" pitchFamily="34" charset="-122"/>
                <a:cs typeface="Cambria" pitchFamily="34" charset="-120"/>
              </a:rPr>
              <a:t>0</a:t>
            </a:r>
            <a:endParaRPr lang="en-US" sz="4800" dirty="0"/>
          </a:p>
        </p:txBody>
      </p:sp>
      <p:sp>
        <p:nvSpPr>
          <p:cNvPr id="10" name="Text 8"/>
          <p:cNvSpPr txBox="1"/>
          <p:nvPr/>
        </p:nvSpPr>
        <p:spPr>
          <a:xfrm>
            <a:off x="9034272" y="2468880"/>
            <a:ext cx="2523744" cy="640080"/>
          </a:xfrm>
          <a:prstGeom prst="rect">
            <a:avLst/>
          </a:prstGeom>
          <a:noFill/>
          <a:ln/>
        </p:spPr>
        <p:txBody>
          <a:bodyPr wrap="square" lIns="0" tIns="0" rIns="0" bIns="0" rtlCol="0" anchor="ctr"/>
          <a:lstStyle/>
          <a:p>
            <a:pPr algn="ctr" indent="0" marL="0">
              <a:buNone/>
            </a:pPr>
            <a:r>
              <a:rPr lang="en-US" sz="1200" dirty="0">
                <a:solidFill>
                  <a:srgbClr val="242A44"/>
                </a:solidFill>
                <a:latin typeface="Calibri" pitchFamily="34" charset="0"/>
                <a:ea typeface="Calibri" pitchFamily="34" charset="-122"/>
                <a:cs typeface="Calibri" pitchFamily="34" charset="-120"/>
              </a:rPr>
              <a:t>llamadas de red reales en tests</a:t>
            </a:r>
            <a:endParaRPr lang="en-US" sz="1200" dirty="0"/>
          </a:p>
        </p:txBody>
      </p:sp>
      <p:sp>
        <p:nvSpPr>
          <p:cNvPr id="11" name="Shape 9"/>
          <p:cNvSpPr/>
          <p:nvPr/>
        </p:nvSpPr>
        <p:spPr>
          <a:xfrm>
            <a:off x="640080" y="3154680"/>
            <a:ext cx="10835640" cy="1417320"/>
          </a:xfrm>
          <a:prstGeom prst="roundRect">
            <a:avLst>
              <a:gd name="adj" fmla="val 5161"/>
            </a:avLst>
          </a:prstGeom>
          <a:solidFill>
            <a:srgbClr val="EEF1F8"/>
          </a:solidFill>
          <a:ln/>
          <a:effectLst>
            <a:outerShdw sx="100000" sy="100000" kx="0" ky="0" algn="bl" rotWithShape="0" blurRad="76200" dist="25400" dir="5400000">
              <a:srgbClr val="000000">
                <a:alpha val="12000"/>
              </a:srgbClr>
            </a:outerShdw>
          </a:effectLst>
        </p:spPr>
      </p:sp>
      <p:sp>
        <p:nvSpPr>
          <p:cNvPr id="12" name="Shape 10"/>
          <p:cNvSpPr/>
          <p:nvPr/>
        </p:nvSpPr>
        <p:spPr>
          <a:xfrm>
            <a:off x="868680" y="3383280"/>
            <a:ext cx="384048" cy="384048"/>
          </a:xfrm>
          <a:prstGeom prst="ellipse">
            <a:avLst/>
          </a:prstGeom>
          <a:solidFill>
            <a:srgbClr val="414C74"/>
          </a:solidFill>
          <a:ln/>
        </p:spPr>
      </p:sp>
      <p:sp>
        <p:nvSpPr>
          <p:cNvPr id="13" name="Text 11"/>
          <p:cNvSpPr txBox="1"/>
          <p:nvPr/>
        </p:nvSpPr>
        <p:spPr>
          <a:xfrm>
            <a:off x="1371600" y="3355848"/>
            <a:ext cx="9921240" cy="457200"/>
          </a:xfrm>
          <a:prstGeom prst="rect">
            <a:avLst/>
          </a:prstGeom>
          <a:noFill/>
          <a:ln/>
        </p:spPr>
        <p:txBody>
          <a:bodyPr wrap="square" lIns="0" tIns="0" rIns="0" bIns="0" rtlCol="0" anchor="ctr"/>
          <a:lstStyle/>
          <a:p>
            <a:pPr indent="0" marL="0">
              <a:buNone/>
            </a:pPr>
            <a:r>
              <a:rPr lang="en-US" sz="1500" b="1" dirty="0">
                <a:solidFill>
                  <a:srgbClr val="121526"/>
                </a:solidFill>
                <a:latin typeface="Cambria" pitchFamily="34" charset="0"/>
                <a:ea typeface="Cambria" pitchFamily="34" charset="-122"/>
                <a:cs typeface="Cambria" pitchFamily="34" charset="-120"/>
              </a:rPr>
              <a:t>Hallazgo real: prefijos E5 (query: / passage:)</a:t>
            </a:r>
            <a:endParaRPr lang="en-US" sz="1500" dirty="0"/>
          </a:p>
        </p:txBody>
      </p:sp>
      <p:sp>
        <p:nvSpPr>
          <p:cNvPr id="14" name="Text 12"/>
          <p:cNvSpPr txBox="1"/>
          <p:nvPr/>
        </p:nvSpPr>
        <p:spPr>
          <a:xfrm>
            <a:off x="914400" y="3904488"/>
            <a:ext cx="10287000" cy="502920"/>
          </a:xfrm>
          <a:prstGeom prst="rect">
            <a:avLst/>
          </a:prstGeom>
          <a:noFill/>
          <a:ln/>
        </p:spPr>
        <p:txBody>
          <a:bodyPr wrap="square" lIns="0" tIns="0" rIns="0" bIns="0" rtlCol="0" anchor="t"/>
          <a:lstStyle/>
          <a:p>
            <a:pPr indent="0" marL="0">
              <a:buNone/>
            </a:pPr>
            <a:r>
              <a:rPr lang="en-US" sz="1200" dirty="0">
                <a:solidFill>
                  <a:srgbClr val="242A44"/>
                </a:solidFill>
                <a:latin typeface="Calibri" pitchFamily="34" charset="0"/>
                <a:ea typeface="Calibri" pitchFamily="34" charset="-122"/>
                <a:cs typeface="Calibri" pitchFamily="34" charset="-120"/>
              </a:rPr>
              <a:t>La recuperación citaba siempre el mismo documento sin relación con la pregunta. Causa: faltaba la convención de prefijos de E5 para distinguir consulta de contenido indexado — corregido (commit 862a8ae). Evidencia de que el equipo entiende la técnica de embeddings, no solo la invoca.</a:t>
            </a:r>
            <a:endParaRPr lang="en-US" sz="1200" dirty="0"/>
          </a:p>
        </p:txBody>
      </p:sp>
      <p:sp>
        <p:nvSpPr>
          <p:cNvPr id="15" name="Shape 13"/>
          <p:cNvSpPr/>
          <p:nvPr/>
        </p:nvSpPr>
        <p:spPr>
          <a:xfrm>
            <a:off x="640080" y="4754880"/>
            <a:ext cx="10835640" cy="1417320"/>
          </a:xfrm>
          <a:prstGeom prst="roundRect">
            <a:avLst>
              <a:gd name="adj" fmla="val 5161"/>
            </a:avLst>
          </a:prstGeom>
          <a:solidFill>
            <a:srgbClr val="121526"/>
          </a:solidFill>
          <a:ln/>
        </p:spPr>
      </p:sp>
      <p:sp>
        <p:nvSpPr>
          <p:cNvPr id="16" name="Text 14"/>
          <p:cNvSpPr txBox="1"/>
          <p:nvPr/>
        </p:nvSpPr>
        <p:spPr>
          <a:xfrm>
            <a:off x="868680" y="4892040"/>
            <a:ext cx="5486400" cy="36576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Aciertos RAG vs. baseline (15 preguntas)</a:t>
            </a:r>
            <a:endParaRPr lang="en-US" sz="1400" dirty="0"/>
          </a:p>
        </p:txBody>
      </p:sp>
      <p:sp>
        <p:nvSpPr>
          <p:cNvPr id="17" name="Text 15"/>
          <p:cNvSpPr txBox="1"/>
          <p:nvPr/>
        </p:nvSpPr>
        <p:spPr>
          <a:xfrm>
            <a:off x="868680" y="5285232"/>
            <a:ext cx="9966960" cy="685800"/>
          </a:xfrm>
          <a:prstGeom prst="rect">
            <a:avLst/>
          </a:prstGeom>
          <a:noFill/>
          <a:ln/>
        </p:spPr>
        <p:txBody>
          <a:bodyPr wrap="square" lIns="0" tIns="0" rIns="0" bIns="0" rtlCol="0" anchor="ctr"/>
          <a:lstStyle/>
          <a:p>
            <a:pPr indent="0" marL="0">
              <a:buNone/>
            </a:pPr>
            <a:r>
              <a:rPr lang="en-US" sz="1300" b="1" i="1" dirty="0">
                <a:solidFill>
                  <a:srgbClr val="3CBDC7"/>
                </a:solidFill>
                <a:latin typeface="Calibri" pitchFamily="34" charset="0"/>
                <a:ea typeface="Calibri" pitchFamily="34" charset="-122"/>
                <a:cs typeface="Calibri" pitchFamily="34" charset="-120"/>
              </a:rPr>
              <a:t>Pendiente — corrida final en producción con embeddings reales (HPC) recalculados tras el fix de prefijos</a:t>
            </a:r>
            <a:endParaRPr lang="en-US" sz="1300" dirty="0"/>
          </a:p>
        </p:txBody>
      </p:sp>
      <p:sp>
        <p:nvSpPr>
          <p:cNvPr id="25" name="Slide Number Placeholder 0"/>
          <p:cNvSpPr>
            <a:spLocks noGrp="1"/>
          </p:cNvSpPr>
          <p:nvPr>
            <p:ph type="sldNum" sz="quarter" idx="4294967295"/>
          </p:nvPr>
        </p:nvSpPr>
        <p:spPr>
          <a:xfrm>
            <a:off x="11521440" y="649224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7728F"/>
                </a:solidFill>
                <a:latin typeface="Calibri"/>
                <a:ea typeface="Calibri"/>
                <a:cs typeface="Calibri"/>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822960" y="2377440"/>
            <a:ext cx="10515600" cy="1463040"/>
          </a:xfrm>
          <a:prstGeom prst="rect">
            <a:avLst/>
          </a:prstGeom>
          <a:noFill/>
          <a:ln/>
        </p:spPr>
        <p:txBody>
          <a:bodyPr wrap="square" rtlCol="0"/>
          <a:lstStyle/>
          <a:p>
            <a:pPr algn="l" indent="0" marL="0">
              <a:buNone/>
            </a:pPr>
            <a:r>
              <a:rPr lang="en-US" sz="4000" b="1" dirty="0">
                <a:solidFill>
                  <a:srgbClr val="FFFFFF"/>
                </a:solidFill>
                <a:latin typeface="Cambria" pitchFamily="34" charset="0"/>
                <a:ea typeface="Cambria" pitchFamily="34" charset="-122"/>
                <a:cs typeface="Cambria" pitchFamily="34" charset="-120"/>
              </a:rPr>
              <a:t>DEMO EN VIVO</a:t>
            </a:r>
            <a:endParaRPr lang="en-US" sz="4000" dirty="0"/>
          </a:p>
        </p:txBody>
      </p:sp>
      <p:sp>
        <p:nvSpPr>
          <p:cNvPr id="3" name="Text 0"/>
          <p:cNvSpPr/>
          <p:nvPr>
            <p:ph idx="101" type="body" hasCustomPrompt="1"/>
          </p:nvPr>
        </p:nvSpPr>
        <p:spPr>
          <a:xfrm>
            <a:off x="822960" y="3886200"/>
            <a:ext cx="9601200" cy="1097280"/>
          </a:xfrm>
          <a:prstGeom prst="rect">
            <a:avLst/>
          </a:prstGeom>
          <a:noFill/>
          <a:ln/>
        </p:spPr>
        <p:txBody>
          <a:bodyPr wrap="square" rtlCol="0"/>
          <a:lstStyle/>
          <a:p>
            <a:pPr algn="l" indent="0" marL="0">
              <a:buNone/>
            </a:pPr>
            <a:r>
              <a:rPr lang="en-US" sz="1800" dirty="0">
                <a:solidFill>
                  <a:srgbClr val="EEF1F8"/>
                </a:solidFill>
                <a:latin typeface="Calibri" pitchFamily="34" charset="0"/>
                <a:ea typeface="Calibri" pitchFamily="34" charset="-122"/>
                <a:cs typeface="Calibri" pitchFamily="34" charset="-120"/>
              </a:rPr>
              <a:t>Validación de un sílabo real, de principio a fin</a:t>
            </a:r>
            <a:endParaRPr lang="en-US" sz="1800" dirty="0"/>
          </a:p>
        </p:txBody>
      </p:sp>
      <p:sp>
        <p:nvSpPr>
          <p:cNvPr id="4" name="Shape 2"/>
          <p:cNvSpPr/>
          <p:nvPr/>
        </p:nvSpPr>
        <p:spPr>
          <a:xfrm>
            <a:off x="822960" y="4343400"/>
            <a:ext cx="274320" cy="274320"/>
          </a:xfrm>
          <a:prstGeom prst="ellipse">
            <a:avLst/>
          </a:prstGeom>
          <a:solidFill>
            <a:srgbClr val="1AA3AF"/>
          </a:solidFill>
          <a:ln/>
        </p:spPr>
      </p:sp>
      <p:sp>
        <p:nvSpPr>
          <p:cNvPr id="5" name="Text 3"/>
          <p:cNvSpPr txBox="1"/>
          <p:nvPr/>
        </p:nvSpPr>
        <p:spPr>
          <a:xfrm>
            <a:off x="822960" y="4343400"/>
            <a:ext cx="274320" cy="274320"/>
          </a:xfrm>
          <a:prstGeom prst="rect">
            <a:avLst/>
          </a:prstGeom>
          <a:noFill/>
          <a:ln/>
        </p:spPr>
        <p:txBody>
          <a:bodyPr wrap="square" lIns="0" tIns="0" rIns="0" bIns="0" rtlCol="0" anchor="ctr"/>
          <a:lstStyle/>
          <a:p>
            <a:pPr algn="ctr" indent="0" marL="0">
              <a:buNone/>
            </a:pPr>
            <a:r>
              <a:rPr lang="en-US" sz="1100" b="1" dirty="0">
                <a:solidFill>
                  <a:srgbClr val="121526"/>
                </a:solidFill>
                <a:latin typeface="Calibri" pitchFamily="34" charset="0"/>
                <a:ea typeface="Calibri" pitchFamily="34" charset="-122"/>
                <a:cs typeface="Calibri" pitchFamily="34" charset="-120"/>
              </a:rPr>
              <a:t>1</a:t>
            </a:r>
            <a:endParaRPr lang="en-US" sz="1100" dirty="0"/>
          </a:p>
        </p:txBody>
      </p:sp>
      <p:sp>
        <p:nvSpPr>
          <p:cNvPr id="6" name="Text 4"/>
          <p:cNvSpPr txBox="1"/>
          <p:nvPr/>
        </p:nvSpPr>
        <p:spPr>
          <a:xfrm>
            <a:off x="1234440" y="4325112"/>
            <a:ext cx="8686800" cy="320040"/>
          </a:xfrm>
          <a:prstGeom prst="rect">
            <a:avLst/>
          </a:prstGeom>
          <a:noFill/>
          <a:ln/>
        </p:spPr>
        <p:txBody>
          <a:bodyPr wrap="square" lIns="0" tIns="0" rIns="0" bIns="0" rtlCol="0" anchor="ctr"/>
          <a:lstStyle/>
          <a:p>
            <a:pPr indent="0" marL="0">
              <a:buNone/>
            </a:pPr>
            <a:r>
              <a:rPr lang="en-US" sz="1300" dirty="0">
                <a:solidFill>
                  <a:srgbClr val="EEF1F8"/>
                </a:solidFill>
                <a:latin typeface="Calibri" pitchFamily="34" charset="0"/>
                <a:ea typeface="Calibri" pitchFamily="34" charset="-122"/>
                <a:cs typeface="Calibri" pitchFamily="34" charset="-120"/>
              </a:rPr>
              <a:t>Login en la plataforma en producción</a:t>
            </a:r>
            <a:endParaRPr lang="en-US" sz="1300" dirty="0"/>
          </a:p>
        </p:txBody>
      </p:sp>
      <p:sp>
        <p:nvSpPr>
          <p:cNvPr id="7" name="Shape 5"/>
          <p:cNvSpPr/>
          <p:nvPr/>
        </p:nvSpPr>
        <p:spPr>
          <a:xfrm>
            <a:off x="822960" y="4727448"/>
            <a:ext cx="274320" cy="274320"/>
          </a:xfrm>
          <a:prstGeom prst="ellipse">
            <a:avLst/>
          </a:prstGeom>
          <a:solidFill>
            <a:srgbClr val="1AA3AF"/>
          </a:solidFill>
          <a:ln/>
        </p:spPr>
      </p:sp>
      <p:sp>
        <p:nvSpPr>
          <p:cNvPr id="8" name="Text 6"/>
          <p:cNvSpPr txBox="1"/>
          <p:nvPr/>
        </p:nvSpPr>
        <p:spPr>
          <a:xfrm>
            <a:off x="822960" y="4727448"/>
            <a:ext cx="274320" cy="274320"/>
          </a:xfrm>
          <a:prstGeom prst="rect">
            <a:avLst/>
          </a:prstGeom>
          <a:noFill/>
          <a:ln/>
        </p:spPr>
        <p:txBody>
          <a:bodyPr wrap="square" lIns="0" tIns="0" rIns="0" bIns="0" rtlCol="0" anchor="ctr"/>
          <a:lstStyle/>
          <a:p>
            <a:pPr algn="ctr" indent="0" marL="0">
              <a:buNone/>
            </a:pPr>
            <a:r>
              <a:rPr lang="en-US" sz="1100" b="1" dirty="0">
                <a:solidFill>
                  <a:srgbClr val="121526"/>
                </a:solidFill>
                <a:latin typeface="Calibri" pitchFamily="34" charset="0"/>
                <a:ea typeface="Calibri" pitchFamily="34" charset="-122"/>
                <a:cs typeface="Calibri" pitchFamily="34" charset="-120"/>
              </a:rPr>
              <a:t>2</a:t>
            </a:r>
            <a:endParaRPr lang="en-US" sz="1100" dirty="0"/>
          </a:p>
        </p:txBody>
      </p:sp>
      <p:sp>
        <p:nvSpPr>
          <p:cNvPr id="9" name="Text 7"/>
          <p:cNvSpPr txBox="1"/>
          <p:nvPr/>
        </p:nvSpPr>
        <p:spPr>
          <a:xfrm>
            <a:off x="1234440" y="4709160"/>
            <a:ext cx="8686800" cy="320040"/>
          </a:xfrm>
          <a:prstGeom prst="rect">
            <a:avLst/>
          </a:prstGeom>
          <a:noFill/>
          <a:ln/>
        </p:spPr>
        <p:txBody>
          <a:bodyPr wrap="square" lIns="0" tIns="0" rIns="0" bIns="0" rtlCol="0" anchor="ctr"/>
          <a:lstStyle/>
          <a:p>
            <a:pPr indent="0" marL="0">
              <a:buNone/>
            </a:pPr>
            <a:r>
              <a:rPr lang="en-US" sz="1300" dirty="0">
                <a:solidFill>
                  <a:srgbClr val="EEF1F8"/>
                </a:solidFill>
                <a:latin typeface="Calibri" pitchFamily="34" charset="0"/>
                <a:ea typeface="Calibri" pitchFamily="34" charset="-122"/>
                <a:cs typeface="Calibri" pitchFamily="34" charset="-120"/>
              </a:rPr>
              <a:t>Menú "Validación RAG" → Validación de sílabos</a:t>
            </a:r>
            <a:endParaRPr lang="en-US" sz="1300" dirty="0"/>
          </a:p>
        </p:txBody>
      </p:sp>
      <p:sp>
        <p:nvSpPr>
          <p:cNvPr id="10" name="Shape 8"/>
          <p:cNvSpPr/>
          <p:nvPr/>
        </p:nvSpPr>
        <p:spPr>
          <a:xfrm>
            <a:off x="822960" y="5111496"/>
            <a:ext cx="274320" cy="274320"/>
          </a:xfrm>
          <a:prstGeom prst="ellipse">
            <a:avLst/>
          </a:prstGeom>
          <a:solidFill>
            <a:srgbClr val="1AA3AF"/>
          </a:solidFill>
          <a:ln/>
        </p:spPr>
      </p:sp>
      <p:sp>
        <p:nvSpPr>
          <p:cNvPr id="11" name="Text 9"/>
          <p:cNvSpPr txBox="1"/>
          <p:nvPr/>
        </p:nvSpPr>
        <p:spPr>
          <a:xfrm>
            <a:off x="822960" y="5111496"/>
            <a:ext cx="274320" cy="274320"/>
          </a:xfrm>
          <a:prstGeom prst="rect">
            <a:avLst/>
          </a:prstGeom>
          <a:noFill/>
          <a:ln/>
        </p:spPr>
        <p:txBody>
          <a:bodyPr wrap="square" lIns="0" tIns="0" rIns="0" bIns="0" rtlCol="0" anchor="ctr"/>
          <a:lstStyle/>
          <a:p>
            <a:pPr algn="ctr" indent="0" marL="0">
              <a:buNone/>
            </a:pPr>
            <a:r>
              <a:rPr lang="en-US" sz="1100" b="1" dirty="0">
                <a:solidFill>
                  <a:srgbClr val="121526"/>
                </a:solidFill>
                <a:latin typeface="Calibri" pitchFamily="34" charset="0"/>
                <a:ea typeface="Calibri" pitchFamily="34" charset="-122"/>
                <a:cs typeface="Calibri" pitchFamily="34" charset="-120"/>
              </a:rPr>
              <a:t>3</a:t>
            </a:r>
            <a:endParaRPr lang="en-US" sz="1100" dirty="0"/>
          </a:p>
        </p:txBody>
      </p:sp>
      <p:sp>
        <p:nvSpPr>
          <p:cNvPr id="12" name="Text 10"/>
          <p:cNvSpPr txBox="1"/>
          <p:nvPr/>
        </p:nvSpPr>
        <p:spPr>
          <a:xfrm>
            <a:off x="1234440" y="5093208"/>
            <a:ext cx="8686800" cy="320040"/>
          </a:xfrm>
          <a:prstGeom prst="rect">
            <a:avLst/>
          </a:prstGeom>
          <a:noFill/>
          <a:ln/>
        </p:spPr>
        <p:txBody>
          <a:bodyPr wrap="square" lIns="0" tIns="0" rIns="0" bIns="0" rtlCol="0" anchor="ctr"/>
          <a:lstStyle/>
          <a:p>
            <a:pPr indent="0" marL="0">
              <a:buNone/>
            </a:pPr>
            <a:r>
              <a:rPr lang="en-US" sz="1300" dirty="0">
                <a:solidFill>
                  <a:srgbClr val="EEF1F8"/>
                </a:solidFill>
                <a:latin typeface="Calibri" pitchFamily="34" charset="0"/>
                <a:ea typeface="Calibri" pitchFamily="34" charset="-122"/>
                <a:cs typeface="Calibri" pitchFamily="34" charset="-120"/>
              </a:rPr>
              <a:t>Pegar texto o subir el .docx del docente</a:t>
            </a:r>
            <a:endParaRPr lang="en-US" sz="1300" dirty="0"/>
          </a:p>
        </p:txBody>
      </p:sp>
      <p:sp>
        <p:nvSpPr>
          <p:cNvPr id="13" name="Shape 11"/>
          <p:cNvSpPr/>
          <p:nvPr/>
        </p:nvSpPr>
        <p:spPr>
          <a:xfrm>
            <a:off x="822960" y="5495544"/>
            <a:ext cx="274320" cy="274320"/>
          </a:xfrm>
          <a:prstGeom prst="ellipse">
            <a:avLst/>
          </a:prstGeom>
          <a:solidFill>
            <a:srgbClr val="1AA3AF"/>
          </a:solidFill>
          <a:ln/>
        </p:spPr>
      </p:sp>
      <p:sp>
        <p:nvSpPr>
          <p:cNvPr id="14" name="Text 12"/>
          <p:cNvSpPr txBox="1"/>
          <p:nvPr/>
        </p:nvSpPr>
        <p:spPr>
          <a:xfrm>
            <a:off x="822960" y="5495544"/>
            <a:ext cx="274320" cy="274320"/>
          </a:xfrm>
          <a:prstGeom prst="rect">
            <a:avLst/>
          </a:prstGeom>
          <a:noFill/>
          <a:ln/>
        </p:spPr>
        <p:txBody>
          <a:bodyPr wrap="square" lIns="0" tIns="0" rIns="0" bIns="0" rtlCol="0" anchor="ctr"/>
          <a:lstStyle/>
          <a:p>
            <a:pPr algn="ctr" indent="0" marL="0">
              <a:buNone/>
            </a:pPr>
            <a:r>
              <a:rPr lang="en-US" sz="1100" b="1" dirty="0">
                <a:solidFill>
                  <a:srgbClr val="121526"/>
                </a:solidFill>
                <a:latin typeface="Calibri" pitchFamily="34" charset="0"/>
                <a:ea typeface="Calibri" pitchFamily="34" charset="-122"/>
                <a:cs typeface="Calibri" pitchFamily="34" charset="-120"/>
              </a:rPr>
              <a:t>4</a:t>
            </a:r>
            <a:endParaRPr lang="en-US" sz="1100" dirty="0"/>
          </a:p>
        </p:txBody>
      </p:sp>
      <p:sp>
        <p:nvSpPr>
          <p:cNvPr id="15" name="Text 13"/>
          <p:cNvSpPr txBox="1"/>
          <p:nvPr/>
        </p:nvSpPr>
        <p:spPr>
          <a:xfrm>
            <a:off x="1234440" y="5477256"/>
            <a:ext cx="8686800" cy="320040"/>
          </a:xfrm>
          <a:prstGeom prst="rect">
            <a:avLst/>
          </a:prstGeom>
          <a:noFill/>
          <a:ln/>
        </p:spPr>
        <p:txBody>
          <a:bodyPr wrap="square" lIns="0" tIns="0" rIns="0" bIns="0" rtlCol="0" anchor="ctr"/>
          <a:lstStyle/>
          <a:p>
            <a:pPr indent="0" marL="0">
              <a:buNone/>
            </a:pPr>
            <a:r>
              <a:rPr lang="en-US" sz="1300" dirty="0">
                <a:solidFill>
                  <a:srgbClr val="EEF1F8"/>
                </a:solidFill>
                <a:latin typeface="Calibri" pitchFamily="34" charset="0"/>
                <a:ea typeface="Calibri" pitchFamily="34" charset="-122"/>
                <a:cs typeface="Calibri" pitchFamily="34" charset="-120"/>
              </a:rPr>
              <a:t>5 veredictos con cita de artículo y documento</a:t>
            </a:r>
            <a:endParaRPr lang="en-US" sz="1300" dirty="0"/>
          </a:p>
        </p:txBody>
      </p:sp>
      <p:sp>
        <p:nvSpPr>
          <p:cNvPr id="16" name="Shape 14"/>
          <p:cNvSpPr/>
          <p:nvPr/>
        </p:nvSpPr>
        <p:spPr>
          <a:xfrm>
            <a:off x="822960" y="5879592"/>
            <a:ext cx="274320" cy="274320"/>
          </a:xfrm>
          <a:prstGeom prst="ellipse">
            <a:avLst/>
          </a:prstGeom>
          <a:solidFill>
            <a:srgbClr val="1AA3AF"/>
          </a:solidFill>
          <a:ln/>
        </p:spPr>
      </p:sp>
      <p:sp>
        <p:nvSpPr>
          <p:cNvPr id="17" name="Text 15"/>
          <p:cNvSpPr txBox="1"/>
          <p:nvPr/>
        </p:nvSpPr>
        <p:spPr>
          <a:xfrm>
            <a:off x="822960" y="5879592"/>
            <a:ext cx="274320" cy="274320"/>
          </a:xfrm>
          <a:prstGeom prst="rect">
            <a:avLst/>
          </a:prstGeom>
          <a:noFill/>
          <a:ln/>
        </p:spPr>
        <p:txBody>
          <a:bodyPr wrap="square" lIns="0" tIns="0" rIns="0" bIns="0" rtlCol="0" anchor="ctr"/>
          <a:lstStyle/>
          <a:p>
            <a:pPr algn="ctr" indent="0" marL="0">
              <a:buNone/>
            </a:pPr>
            <a:r>
              <a:rPr lang="en-US" sz="1100" b="1" dirty="0">
                <a:solidFill>
                  <a:srgbClr val="121526"/>
                </a:solidFill>
                <a:latin typeface="Calibri" pitchFamily="34" charset="0"/>
                <a:ea typeface="Calibri" pitchFamily="34" charset="-122"/>
                <a:cs typeface="Calibri" pitchFamily="34" charset="-120"/>
              </a:rPr>
              <a:t>5</a:t>
            </a:r>
            <a:endParaRPr lang="en-US" sz="1100" dirty="0"/>
          </a:p>
        </p:txBody>
      </p:sp>
      <p:sp>
        <p:nvSpPr>
          <p:cNvPr id="18" name="Text 16"/>
          <p:cNvSpPr txBox="1"/>
          <p:nvPr/>
        </p:nvSpPr>
        <p:spPr>
          <a:xfrm>
            <a:off x="1234440" y="5861304"/>
            <a:ext cx="8686800" cy="320040"/>
          </a:xfrm>
          <a:prstGeom prst="rect">
            <a:avLst/>
          </a:prstGeom>
          <a:noFill/>
          <a:ln/>
        </p:spPr>
        <p:txBody>
          <a:bodyPr wrap="square" lIns="0" tIns="0" rIns="0" bIns="0" rtlCol="0" anchor="ctr"/>
          <a:lstStyle/>
          <a:p>
            <a:pPr indent="0" marL="0">
              <a:buNone/>
            </a:pPr>
            <a:r>
              <a:rPr lang="en-US" sz="1300" dirty="0">
                <a:solidFill>
                  <a:srgbClr val="EEF1F8"/>
                </a:solidFill>
                <a:latin typeface="Calibri" pitchFamily="34" charset="0"/>
                <a:ea typeface="Calibri" pitchFamily="34" charset="-122"/>
                <a:cs typeface="Calibri" pitchFamily="34" charset="-120"/>
              </a:rPr>
              <a:t>Pantalla "Evaluación": baseline vs. RAG en vivo</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640080" y="457200"/>
            <a:ext cx="10881360" cy="822960"/>
          </a:xfrm>
          <a:prstGeom prst="rect">
            <a:avLst/>
          </a:prstGeom>
          <a:noFill/>
          <a:ln/>
        </p:spPr>
        <p:txBody>
          <a:bodyPr wrap="square" rtlCol="0"/>
          <a:lstStyle/>
          <a:p>
            <a:pPr algn="l" indent="0" marL="0">
              <a:buNone/>
            </a:pPr>
            <a:r>
              <a:rPr lang="en-US" sz="3000" b="1" dirty="0">
                <a:solidFill>
                  <a:srgbClr val="121526"/>
                </a:solidFill>
                <a:latin typeface="Cambria" pitchFamily="34" charset="0"/>
                <a:ea typeface="Cambria" pitchFamily="34" charset="-122"/>
                <a:cs typeface="Cambria" pitchFamily="34" charset="-120"/>
              </a:rPr>
              <a:t>Impacto esperado y limitaciones actuales</a:t>
            </a:r>
            <a:endParaRPr lang="en-US" sz="3000" dirty="0"/>
          </a:p>
        </p:txBody>
      </p:sp>
      <p:sp>
        <p:nvSpPr>
          <p:cNvPr id="3" name="Shape 1"/>
          <p:cNvSpPr/>
          <p:nvPr/>
        </p:nvSpPr>
        <p:spPr>
          <a:xfrm>
            <a:off x="640080" y="1645920"/>
            <a:ext cx="5294376" cy="4206240"/>
          </a:xfrm>
          <a:prstGeom prst="roundRect">
            <a:avLst>
              <a:gd name="adj" fmla="val 1739"/>
            </a:avLst>
          </a:prstGeom>
          <a:solidFill>
            <a:srgbClr val="EEF1F8"/>
          </a:solidFill>
          <a:ln/>
          <a:effectLst>
            <a:outerShdw sx="100000" sy="100000" kx="0" ky="0" algn="bl" rotWithShape="0" blurRad="76200" dist="25400" dir="5400000">
              <a:srgbClr val="000000">
                <a:alpha val="12000"/>
              </a:srgbClr>
            </a:outerShdw>
          </a:effectLst>
        </p:spPr>
      </p:sp>
      <p:sp>
        <p:nvSpPr>
          <p:cNvPr id="4" name="Shape 2"/>
          <p:cNvSpPr/>
          <p:nvPr/>
        </p:nvSpPr>
        <p:spPr>
          <a:xfrm>
            <a:off x="868680" y="1874520"/>
            <a:ext cx="384048" cy="384048"/>
          </a:xfrm>
          <a:prstGeom prst="ellipse">
            <a:avLst/>
          </a:prstGeom>
          <a:solidFill>
            <a:srgbClr val="1AA3AF"/>
          </a:solidFill>
          <a:ln/>
        </p:spPr>
      </p:sp>
      <p:sp>
        <p:nvSpPr>
          <p:cNvPr id="5" name="Text 3"/>
          <p:cNvSpPr txBox="1"/>
          <p:nvPr/>
        </p:nvSpPr>
        <p:spPr>
          <a:xfrm>
            <a:off x="1371600" y="1847088"/>
            <a:ext cx="4379976" cy="457200"/>
          </a:xfrm>
          <a:prstGeom prst="rect">
            <a:avLst/>
          </a:prstGeom>
          <a:noFill/>
          <a:ln/>
        </p:spPr>
        <p:txBody>
          <a:bodyPr wrap="square" lIns="0" tIns="0" rIns="0" bIns="0" rtlCol="0" anchor="ctr"/>
          <a:lstStyle/>
          <a:p>
            <a:pPr indent="0" marL="0">
              <a:buNone/>
            </a:pPr>
            <a:r>
              <a:rPr lang="en-US" sz="1500" b="1" dirty="0">
                <a:solidFill>
                  <a:srgbClr val="121526"/>
                </a:solidFill>
                <a:latin typeface="Cambria" pitchFamily="34" charset="0"/>
                <a:ea typeface="Cambria" pitchFamily="34" charset="-122"/>
                <a:cs typeface="Cambria" pitchFamily="34" charset="-120"/>
              </a:rPr>
              <a:t>Beneficio esperado</a:t>
            </a:r>
            <a:endParaRPr lang="en-US" sz="1500" dirty="0"/>
          </a:p>
        </p:txBody>
      </p:sp>
      <p:sp>
        <p:nvSpPr>
          <p:cNvPr id="6" name="Text 4"/>
          <p:cNvSpPr txBox="1"/>
          <p:nvPr/>
        </p:nvSpPr>
        <p:spPr>
          <a:xfrm>
            <a:off x="914400" y="2395728"/>
            <a:ext cx="4745736" cy="3291840"/>
          </a:xfrm>
          <a:prstGeom prst="rect">
            <a:avLst/>
          </a:prstGeom>
          <a:noFill/>
          <a:ln/>
        </p:spPr>
        <p:txBody>
          <a:bodyPr wrap="square" lIns="0" tIns="0" rIns="0" bIns="0" rtlCol="0" anchor="t"/>
          <a:lstStyle/>
          <a:p>
            <a:pPr indent="0" marL="0">
              <a:buNone/>
            </a:pPr>
            <a:r>
              <a:rPr lang="en-US" sz="1200" dirty="0">
                <a:solidFill>
                  <a:srgbClr val="242A44"/>
                </a:solidFill>
                <a:latin typeface="Calibri" pitchFamily="34" charset="0"/>
                <a:ea typeface="Calibri" pitchFamily="34" charset="-122"/>
                <a:cs typeface="Calibri" pitchFamily="34" charset="-120"/>
              </a:rPr>
              <a:t>• De minutos/horas a segundos por sílabo.</a:t>
            </a:r>
            <a:endParaRPr lang="en-US" sz="1200" dirty="0"/>
          </a:p>
          <a:p>
            <a:pPr indent="0" marL="0">
              <a:buNone/>
            </a:pPr>
            <a:r>
              <a:rPr lang="en-US" sz="1200" dirty="0">
                <a:solidFill>
                  <a:srgbClr val="242A44"/>
                </a:solidFill>
                <a:latin typeface="Calibri" pitchFamily="34" charset="0"/>
                <a:ea typeface="Calibri" pitchFamily="34" charset="-122"/>
                <a:cs typeface="Calibri" pitchFamily="34" charset="-120"/>
              </a:rPr>
              <a:t>• Trazabilidad exacta (artículo + documento) en cada observación.</a:t>
            </a:r>
            <a:endParaRPr lang="en-US" sz="1200" dirty="0"/>
          </a:p>
          <a:p>
            <a:pPr indent="0" marL="0">
              <a:buNone/>
            </a:pPr>
            <a:r>
              <a:rPr lang="en-US" sz="1200" dirty="0">
                <a:solidFill>
                  <a:srgbClr val="242A44"/>
                </a:solidFill>
                <a:latin typeface="Calibri" pitchFamily="34" charset="0"/>
                <a:ea typeface="Calibri" pitchFamily="34" charset="-122"/>
                <a:cs typeface="Calibri" pitchFamily="34" charset="-120"/>
              </a:rPr>
              <a:t>• Base técnica reutilizable para evaluar otros documentos institucionales.</a:t>
            </a:r>
            <a:endParaRPr lang="en-US" sz="1200" dirty="0"/>
          </a:p>
        </p:txBody>
      </p:sp>
      <p:sp>
        <p:nvSpPr>
          <p:cNvPr id="7" name="Shape 5"/>
          <p:cNvSpPr/>
          <p:nvPr/>
        </p:nvSpPr>
        <p:spPr>
          <a:xfrm>
            <a:off x="6254496" y="1645920"/>
            <a:ext cx="5294376" cy="4206240"/>
          </a:xfrm>
          <a:prstGeom prst="roundRect">
            <a:avLst>
              <a:gd name="adj" fmla="val 1739"/>
            </a:avLst>
          </a:prstGeom>
          <a:solidFill>
            <a:srgbClr val="EEF1F8"/>
          </a:solidFill>
          <a:ln/>
          <a:effectLst>
            <a:outerShdw sx="100000" sy="100000" kx="0" ky="0" algn="bl" rotWithShape="0" blurRad="76200" dist="25400" dir="5400000">
              <a:srgbClr val="000000">
                <a:alpha val="12000"/>
              </a:srgbClr>
            </a:outerShdw>
          </a:effectLst>
        </p:spPr>
      </p:sp>
      <p:sp>
        <p:nvSpPr>
          <p:cNvPr id="8" name="Shape 6"/>
          <p:cNvSpPr/>
          <p:nvPr/>
        </p:nvSpPr>
        <p:spPr>
          <a:xfrm>
            <a:off x="6483096" y="1874520"/>
            <a:ext cx="384048" cy="384048"/>
          </a:xfrm>
          <a:prstGeom prst="ellipse">
            <a:avLst/>
          </a:prstGeom>
          <a:solidFill>
            <a:srgbClr val="414C74"/>
          </a:solidFill>
          <a:ln/>
        </p:spPr>
      </p:sp>
      <p:sp>
        <p:nvSpPr>
          <p:cNvPr id="9" name="Text 7"/>
          <p:cNvSpPr txBox="1"/>
          <p:nvPr/>
        </p:nvSpPr>
        <p:spPr>
          <a:xfrm>
            <a:off x="6986016" y="1847088"/>
            <a:ext cx="4379976" cy="457200"/>
          </a:xfrm>
          <a:prstGeom prst="rect">
            <a:avLst/>
          </a:prstGeom>
          <a:noFill/>
          <a:ln/>
        </p:spPr>
        <p:txBody>
          <a:bodyPr wrap="square" lIns="0" tIns="0" rIns="0" bIns="0" rtlCol="0" anchor="ctr"/>
          <a:lstStyle/>
          <a:p>
            <a:pPr indent="0" marL="0">
              <a:buNone/>
            </a:pPr>
            <a:r>
              <a:rPr lang="en-US" sz="1500" b="1" dirty="0">
                <a:solidFill>
                  <a:srgbClr val="121526"/>
                </a:solidFill>
                <a:latin typeface="Cambria" pitchFamily="34" charset="0"/>
                <a:ea typeface="Cambria" pitchFamily="34" charset="-122"/>
                <a:cs typeface="Cambria" pitchFamily="34" charset="-120"/>
              </a:rPr>
              <a:t>Limitaciones actuales</a:t>
            </a:r>
            <a:endParaRPr lang="en-US" sz="1500" dirty="0"/>
          </a:p>
        </p:txBody>
      </p:sp>
      <p:sp>
        <p:nvSpPr>
          <p:cNvPr id="10" name="Text 8"/>
          <p:cNvSpPr txBox="1"/>
          <p:nvPr/>
        </p:nvSpPr>
        <p:spPr>
          <a:xfrm>
            <a:off x="6528816" y="2395728"/>
            <a:ext cx="4745736" cy="3291840"/>
          </a:xfrm>
          <a:prstGeom prst="rect">
            <a:avLst/>
          </a:prstGeom>
          <a:noFill/>
          <a:ln/>
        </p:spPr>
        <p:txBody>
          <a:bodyPr wrap="square" lIns="0" tIns="0" rIns="0" bIns="0" rtlCol="0" anchor="t"/>
          <a:lstStyle/>
          <a:p>
            <a:pPr indent="0" marL="0">
              <a:buNone/>
            </a:pPr>
            <a:r>
              <a:rPr lang="en-US" sz="1200" dirty="0">
                <a:solidFill>
                  <a:srgbClr val="242A44"/>
                </a:solidFill>
                <a:latin typeface="Calibri" pitchFamily="34" charset="0"/>
                <a:ea typeface="Calibri" pitchFamily="34" charset="-122"/>
                <a:cs typeface="Calibri" pitchFamily="34" charset="-120"/>
              </a:rPr>
              <a:t>• 2/10 documentos escaneados sin OCR (sin impacto en pregrado).</a:t>
            </a:r>
            <a:endParaRPr lang="en-US" sz="1200" dirty="0"/>
          </a:p>
          <a:p>
            <a:pPr indent="0" marL="0">
              <a:buNone/>
            </a:pPr>
            <a:r>
              <a:rPr lang="en-US" sz="1200" dirty="0">
                <a:solidFill>
                  <a:srgbClr val="242A44"/>
                </a:solidFill>
                <a:latin typeface="Calibri" pitchFamily="34" charset="0"/>
                <a:ea typeface="Calibri" pitchFamily="34" charset="-122"/>
                <a:cs typeface="Calibri" pitchFamily="34" charset="-120"/>
              </a:rPr>
              <a:t>• Cifra de aciertos RAG real pendiente de la corrida final en producción.</a:t>
            </a:r>
            <a:endParaRPr lang="en-US" sz="1200" dirty="0"/>
          </a:p>
          <a:p>
            <a:pPr indent="0" marL="0">
              <a:buNone/>
            </a:pPr>
            <a:r>
              <a:rPr lang="en-US" sz="1200" dirty="0">
                <a:solidFill>
                  <a:srgbClr val="242A44"/>
                </a:solidFill>
                <a:latin typeface="Calibri" pitchFamily="34" charset="0"/>
                <a:ea typeface="Calibri" pitchFamily="34" charset="-122"/>
                <a:cs typeface="Calibri" pitchFamily="34" charset="-120"/>
              </a:rPr>
              <a:t>• "NO_DETERMINADO" existe a propósito: el sistema no inventa cumplimiento.</a:t>
            </a:r>
            <a:endParaRPr lang="en-US" sz="1200" dirty="0"/>
          </a:p>
        </p:txBody>
      </p:sp>
      <p:sp>
        <p:nvSpPr>
          <p:cNvPr id="25" name="Slide Number Placeholder 0"/>
          <p:cNvSpPr>
            <a:spLocks noGrp="1"/>
          </p:cNvSpPr>
          <p:nvPr>
            <p:ph type="sldNum" sz="quarter" idx="4294967295"/>
          </p:nvPr>
        </p:nvSpPr>
        <p:spPr>
          <a:xfrm>
            <a:off x="11521440" y="649224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7728F"/>
                </a:solidFill>
                <a:latin typeface="Calibri"/>
                <a:ea typeface="Calibri"/>
                <a:cs typeface="Calibri"/>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640080" y="457200"/>
            <a:ext cx="10881360" cy="822960"/>
          </a:xfrm>
          <a:prstGeom prst="rect">
            <a:avLst/>
          </a:prstGeom>
          <a:noFill/>
          <a:ln/>
        </p:spPr>
        <p:txBody>
          <a:bodyPr wrap="square" rtlCol="0"/>
          <a:lstStyle/>
          <a:p>
            <a:pPr algn="l" indent="0" marL="0">
              <a:buNone/>
            </a:pPr>
            <a:r>
              <a:rPr lang="en-US" sz="3000" b="1" dirty="0">
                <a:solidFill>
                  <a:srgbClr val="121526"/>
                </a:solidFill>
                <a:latin typeface="Cambria" pitchFamily="34" charset="0"/>
                <a:ea typeface="Cambria" pitchFamily="34" charset="-122"/>
                <a:cs typeface="Cambria" pitchFamily="34" charset="-120"/>
              </a:rPr>
              <a:t>Con 1-3 meses adicionales</a:t>
            </a:r>
            <a:endParaRPr lang="en-US" sz="3000" dirty="0"/>
          </a:p>
        </p:txBody>
      </p:sp>
      <p:sp>
        <p:nvSpPr>
          <p:cNvPr id="3" name="Shape 1"/>
          <p:cNvSpPr/>
          <p:nvPr/>
        </p:nvSpPr>
        <p:spPr>
          <a:xfrm>
            <a:off x="640080" y="1645920"/>
            <a:ext cx="5294376" cy="2103120"/>
          </a:xfrm>
          <a:prstGeom prst="roundRect">
            <a:avLst>
              <a:gd name="adj" fmla="val 3478"/>
            </a:avLst>
          </a:prstGeom>
          <a:solidFill>
            <a:srgbClr val="EEF1F8"/>
          </a:solidFill>
          <a:ln/>
          <a:effectLst>
            <a:outerShdw sx="100000" sy="100000" kx="0" ky="0" algn="bl" rotWithShape="0" blurRad="76200" dist="25400" dir="5400000">
              <a:srgbClr val="000000">
                <a:alpha val="12000"/>
              </a:srgbClr>
            </a:outerShdw>
          </a:effectLst>
        </p:spPr>
      </p:sp>
      <p:sp>
        <p:nvSpPr>
          <p:cNvPr id="4" name="Shape 2"/>
          <p:cNvSpPr/>
          <p:nvPr/>
        </p:nvSpPr>
        <p:spPr>
          <a:xfrm>
            <a:off x="868680" y="1874520"/>
            <a:ext cx="384048" cy="384048"/>
          </a:xfrm>
          <a:prstGeom prst="ellipse">
            <a:avLst/>
          </a:prstGeom>
          <a:solidFill>
            <a:srgbClr val="1AA3AF"/>
          </a:solidFill>
          <a:ln/>
        </p:spPr>
      </p:sp>
      <p:sp>
        <p:nvSpPr>
          <p:cNvPr id="5" name="Text 3"/>
          <p:cNvSpPr txBox="1"/>
          <p:nvPr/>
        </p:nvSpPr>
        <p:spPr>
          <a:xfrm>
            <a:off x="1371600" y="1847088"/>
            <a:ext cx="4379976" cy="457200"/>
          </a:xfrm>
          <a:prstGeom prst="rect">
            <a:avLst/>
          </a:prstGeom>
          <a:noFill/>
          <a:ln/>
        </p:spPr>
        <p:txBody>
          <a:bodyPr wrap="square" lIns="0" tIns="0" rIns="0" bIns="0" rtlCol="0" anchor="ctr"/>
          <a:lstStyle/>
          <a:p>
            <a:pPr indent="0" marL="0">
              <a:buNone/>
            </a:pPr>
            <a:r>
              <a:rPr lang="en-US" sz="1500" b="1" dirty="0">
                <a:solidFill>
                  <a:srgbClr val="121526"/>
                </a:solidFill>
                <a:latin typeface="Cambria" pitchFamily="34" charset="0"/>
                <a:ea typeface="Cambria" pitchFamily="34" charset="-122"/>
                <a:cs typeface="Cambria" pitchFamily="34" charset="-120"/>
              </a:rPr>
              <a:t>01 · OCR del corpus</a:t>
            </a:r>
            <a:endParaRPr lang="en-US" sz="1500" dirty="0"/>
          </a:p>
        </p:txBody>
      </p:sp>
      <p:sp>
        <p:nvSpPr>
          <p:cNvPr id="6" name="Text 4"/>
          <p:cNvSpPr txBox="1"/>
          <p:nvPr/>
        </p:nvSpPr>
        <p:spPr>
          <a:xfrm>
            <a:off x="914400" y="2395728"/>
            <a:ext cx="4745736" cy="1188720"/>
          </a:xfrm>
          <a:prstGeom prst="rect">
            <a:avLst/>
          </a:prstGeom>
          <a:noFill/>
          <a:ln/>
        </p:spPr>
        <p:txBody>
          <a:bodyPr wrap="square" lIns="0" tIns="0" rIns="0" bIns="0" rtlCol="0" anchor="t"/>
          <a:lstStyle/>
          <a:p>
            <a:pPr indent="0" marL="0">
              <a:buNone/>
            </a:pPr>
            <a:r>
              <a:rPr lang="en-US" sz="1200" dirty="0">
                <a:solidFill>
                  <a:srgbClr val="242A44"/>
                </a:solidFill>
                <a:latin typeface="Calibri" pitchFamily="34" charset="0"/>
                <a:ea typeface="Calibri" pitchFamily="34" charset="-122"/>
                <a:cs typeface="Calibri" pitchFamily="34" charset="-120"/>
              </a:rPr>
              <a:t>Cobertura completa de los 2 documentos de posgrado escaneados.</a:t>
            </a:r>
            <a:endParaRPr lang="en-US" sz="1200" dirty="0"/>
          </a:p>
        </p:txBody>
      </p:sp>
      <p:sp>
        <p:nvSpPr>
          <p:cNvPr id="7" name="Shape 5"/>
          <p:cNvSpPr/>
          <p:nvPr/>
        </p:nvSpPr>
        <p:spPr>
          <a:xfrm>
            <a:off x="6894576" y="1645920"/>
            <a:ext cx="5294376" cy="2103120"/>
          </a:xfrm>
          <a:prstGeom prst="roundRect">
            <a:avLst>
              <a:gd name="adj" fmla="val 3478"/>
            </a:avLst>
          </a:prstGeom>
          <a:solidFill>
            <a:srgbClr val="EEF1F8"/>
          </a:solidFill>
          <a:ln/>
          <a:effectLst>
            <a:outerShdw sx="100000" sy="100000" kx="0" ky="0" algn="bl" rotWithShape="0" blurRad="76200" dist="25400" dir="5400000">
              <a:srgbClr val="000000">
                <a:alpha val="12000"/>
              </a:srgbClr>
            </a:outerShdw>
          </a:effectLst>
        </p:spPr>
      </p:sp>
      <p:sp>
        <p:nvSpPr>
          <p:cNvPr id="8" name="Shape 6"/>
          <p:cNvSpPr/>
          <p:nvPr/>
        </p:nvSpPr>
        <p:spPr>
          <a:xfrm>
            <a:off x="7123176" y="1874520"/>
            <a:ext cx="384048" cy="384048"/>
          </a:xfrm>
          <a:prstGeom prst="ellipse">
            <a:avLst/>
          </a:prstGeom>
          <a:solidFill>
            <a:srgbClr val="11838D"/>
          </a:solidFill>
          <a:ln/>
        </p:spPr>
      </p:sp>
      <p:sp>
        <p:nvSpPr>
          <p:cNvPr id="9" name="Text 7"/>
          <p:cNvSpPr txBox="1"/>
          <p:nvPr/>
        </p:nvSpPr>
        <p:spPr>
          <a:xfrm>
            <a:off x="7626096" y="1847088"/>
            <a:ext cx="4379976" cy="457200"/>
          </a:xfrm>
          <a:prstGeom prst="rect">
            <a:avLst/>
          </a:prstGeom>
          <a:noFill/>
          <a:ln/>
        </p:spPr>
        <p:txBody>
          <a:bodyPr wrap="square" lIns="0" tIns="0" rIns="0" bIns="0" rtlCol="0" anchor="ctr"/>
          <a:lstStyle/>
          <a:p>
            <a:pPr indent="0" marL="0">
              <a:buNone/>
            </a:pPr>
            <a:r>
              <a:rPr lang="en-US" sz="1500" b="1" dirty="0">
                <a:solidFill>
                  <a:srgbClr val="121526"/>
                </a:solidFill>
                <a:latin typeface="Cambria" pitchFamily="34" charset="0"/>
                <a:ea typeface="Cambria" pitchFamily="34" charset="-122"/>
                <a:cs typeface="Cambria" pitchFamily="34" charset="-120"/>
              </a:rPr>
              <a:t>02 · Carga horaria docente</a:t>
            </a:r>
            <a:endParaRPr lang="en-US" sz="1500" dirty="0"/>
          </a:p>
        </p:txBody>
      </p:sp>
      <p:sp>
        <p:nvSpPr>
          <p:cNvPr id="10" name="Text 8"/>
          <p:cNvSpPr txBox="1"/>
          <p:nvPr/>
        </p:nvSpPr>
        <p:spPr>
          <a:xfrm>
            <a:off x="7168896" y="2395728"/>
            <a:ext cx="4745736" cy="1188720"/>
          </a:xfrm>
          <a:prstGeom prst="rect">
            <a:avLst/>
          </a:prstGeom>
          <a:noFill/>
          <a:ln/>
        </p:spPr>
        <p:txBody>
          <a:bodyPr wrap="square" lIns="0" tIns="0" rIns="0" bIns="0" rtlCol="0" anchor="t"/>
          <a:lstStyle/>
          <a:p>
            <a:pPr indent="0" marL="0">
              <a:buNone/>
            </a:pPr>
            <a:r>
              <a:rPr lang="en-US" sz="1200" dirty="0">
                <a:solidFill>
                  <a:srgbClr val="242A44"/>
                </a:solidFill>
                <a:latin typeface="Calibri" pitchFamily="34" charset="0"/>
                <a:ea typeface="Calibri" pitchFamily="34" charset="-122"/>
                <a:cs typeface="Calibri" pitchFamily="34" charset="-120"/>
              </a:rPr>
              <a:t>Validar el distributivo contra el Reglamento de Carrera y Escalafón (ya indexado).</a:t>
            </a:r>
            <a:endParaRPr lang="en-US" sz="1200" dirty="0"/>
          </a:p>
        </p:txBody>
      </p:sp>
      <p:sp>
        <p:nvSpPr>
          <p:cNvPr id="11" name="Shape 9"/>
          <p:cNvSpPr/>
          <p:nvPr/>
        </p:nvSpPr>
        <p:spPr>
          <a:xfrm>
            <a:off x="640080" y="4069080"/>
            <a:ext cx="5294376" cy="2103120"/>
          </a:xfrm>
          <a:prstGeom prst="roundRect">
            <a:avLst>
              <a:gd name="adj" fmla="val 3478"/>
            </a:avLst>
          </a:prstGeom>
          <a:solidFill>
            <a:srgbClr val="EEF1F8"/>
          </a:solidFill>
          <a:ln/>
          <a:effectLst>
            <a:outerShdw sx="100000" sy="100000" kx="0" ky="0" algn="bl" rotWithShape="0" blurRad="76200" dist="25400" dir="5400000">
              <a:srgbClr val="000000">
                <a:alpha val="12000"/>
              </a:srgbClr>
            </a:outerShdw>
          </a:effectLst>
        </p:spPr>
      </p:sp>
      <p:sp>
        <p:nvSpPr>
          <p:cNvPr id="12" name="Shape 10"/>
          <p:cNvSpPr/>
          <p:nvPr/>
        </p:nvSpPr>
        <p:spPr>
          <a:xfrm>
            <a:off x="868680" y="4297680"/>
            <a:ext cx="384048" cy="384048"/>
          </a:xfrm>
          <a:prstGeom prst="ellipse">
            <a:avLst/>
          </a:prstGeom>
          <a:solidFill>
            <a:srgbClr val="414C74"/>
          </a:solidFill>
          <a:ln/>
        </p:spPr>
      </p:sp>
      <p:sp>
        <p:nvSpPr>
          <p:cNvPr id="13" name="Text 11"/>
          <p:cNvSpPr txBox="1"/>
          <p:nvPr/>
        </p:nvSpPr>
        <p:spPr>
          <a:xfrm>
            <a:off x="1371600" y="4270248"/>
            <a:ext cx="4379976" cy="457200"/>
          </a:xfrm>
          <a:prstGeom prst="rect">
            <a:avLst/>
          </a:prstGeom>
          <a:noFill/>
          <a:ln/>
        </p:spPr>
        <p:txBody>
          <a:bodyPr wrap="square" lIns="0" tIns="0" rIns="0" bIns="0" rtlCol="0" anchor="ctr"/>
          <a:lstStyle/>
          <a:p>
            <a:pPr indent="0" marL="0">
              <a:buNone/>
            </a:pPr>
            <a:r>
              <a:rPr lang="en-US" sz="1500" b="1" dirty="0">
                <a:solidFill>
                  <a:srgbClr val="121526"/>
                </a:solidFill>
                <a:latin typeface="Cambria" pitchFamily="34" charset="0"/>
                <a:ea typeface="Cambria" pitchFamily="34" charset="-122"/>
                <a:cs typeface="Cambria" pitchFamily="34" charset="-120"/>
              </a:rPr>
              <a:t>03 · Informes de ejecución</a:t>
            </a:r>
            <a:endParaRPr lang="en-US" sz="1500" dirty="0"/>
          </a:p>
        </p:txBody>
      </p:sp>
      <p:sp>
        <p:nvSpPr>
          <p:cNvPr id="14" name="Text 12"/>
          <p:cNvSpPr txBox="1"/>
          <p:nvPr/>
        </p:nvSpPr>
        <p:spPr>
          <a:xfrm>
            <a:off x="914400" y="4818888"/>
            <a:ext cx="4745736" cy="1188720"/>
          </a:xfrm>
          <a:prstGeom prst="rect">
            <a:avLst/>
          </a:prstGeom>
          <a:noFill/>
          <a:ln/>
        </p:spPr>
        <p:txBody>
          <a:bodyPr wrap="square" lIns="0" tIns="0" rIns="0" bIns="0" rtlCol="0" anchor="t"/>
          <a:lstStyle/>
          <a:p>
            <a:pPr indent="0" marL="0">
              <a:buNone/>
            </a:pPr>
            <a:r>
              <a:rPr lang="en-US" sz="1200" dirty="0">
                <a:solidFill>
                  <a:srgbClr val="242A44"/>
                </a:solidFill>
                <a:latin typeface="Calibri" pitchFamily="34" charset="0"/>
                <a:ea typeface="Calibri" pitchFamily="34" charset="-122"/>
                <a:cs typeface="Calibri" pitchFamily="34" charset="-120"/>
              </a:rPr>
              <a:t>Extender el mismo checklist a informes de ejecución académica.</a:t>
            </a:r>
            <a:endParaRPr lang="en-US" sz="1200" dirty="0"/>
          </a:p>
        </p:txBody>
      </p:sp>
      <p:sp>
        <p:nvSpPr>
          <p:cNvPr id="15" name="Shape 13"/>
          <p:cNvSpPr/>
          <p:nvPr/>
        </p:nvSpPr>
        <p:spPr>
          <a:xfrm>
            <a:off x="6894576" y="4069080"/>
            <a:ext cx="5294376" cy="2103120"/>
          </a:xfrm>
          <a:prstGeom prst="roundRect">
            <a:avLst>
              <a:gd name="adj" fmla="val 3478"/>
            </a:avLst>
          </a:prstGeom>
          <a:solidFill>
            <a:srgbClr val="EEF1F8"/>
          </a:solidFill>
          <a:ln/>
          <a:effectLst>
            <a:outerShdw sx="100000" sy="100000" kx="0" ky="0" algn="bl" rotWithShape="0" blurRad="76200" dist="25400" dir="5400000">
              <a:srgbClr val="000000">
                <a:alpha val="12000"/>
              </a:srgbClr>
            </a:outerShdw>
          </a:effectLst>
        </p:spPr>
      </p:sp>
      <p:sp>
        <p:nvSpPr>
          <p:cNvPr id="16" name="Shape 14"/>
          <p:cNvSpPr/>
          <p:nvPr/>
        </p:nvSpPr>
        <p:spPr>
          <a:xfrm>
            <a:off x="7123176" y="4297680"/>
            <a:ext cx="384048" cy="384048"/>
          </a:xfrm>
          <a:prstGeom prst="ellipse">
            <a:avLst/>
          </a:prstGeom>
          <a:solidFill>
            <a:srgbClr val="67728F"/>
          </a:solidFill>
          <a:ln/>
        </p:spPr>
      </p:sp>
      <p:sp>
        <p:nvSpPr>
          <p:cNvPr id="17" name="Text 15"/>
          <p:cNvSpPr txBox="1"/>
          <p:nvPr/>
        </p:nvSpPr>
        <p:spPr>
          <a:xfrm>
            <a:off x="7626096" y="4270248"/>
            <a:ext cx="4379976" cy="457200"/>
          </a:xfrm>
          <a:prstGeom prst="rect">
            <a:avLst/>
          </a:prstGeom>
          <a:noFill/>
          <a:ln/>
        </p:spPr>
        <p:txBody>
          <a:bodyPr wrap="square" lIns="0" tIns="0" rIns="0" bIns="0" rtlCol="0" anchor="ctr"/>
          <a:lstStyle/>
          <a:p>
            <a:pPr indent="0" marL="0">
              <a:buNone/>
            </a:pPr>
            <a:r>
              <a:rPr lang="en-US" sz="1500" b="1" dirty="0">
                <a:solidFill>
                  <a:srgbClr val="121526"/>
                </a:solidFill>
                <a:latin typeface="Cambria" pitchFamily="34" charset="0"/>
                <a:ea typeface="Cambria" pitchFamily="34" charset="-122"/>
                <a:cs typeface="Cambria" pitchFamily="34" charset="-120"/>
              </a:rPr>
              <a:t>04 · Validación con usuarios reales</a:t>
            </a:r>
            <a:endParaRPr lang="en-US" sz="1500" dirty="0"/>
          </a:p>
        </p:txBody>
      </p:sp>
      <p:sp>
        <p:nvSpPr>
          <p:cNvPr id="18" name="Text 16"/>
          <p:cNvSpPr txBox="1"/>
          <p:nvPr/>
        </p:nvSpPr>
        <p:spPr>
          <a:xfrm>
            <a:off x="7168896" y="4818888"/>
            <a:ext cx="4745736" cy="1188720"/>
          </a:xfrm>
          <a:prstGeom prst="rect">
            <a:avLst/>
          </a:prstGeom>
          <a:noFill/>
          <a:ln/>
        </p:spPr>
        <p:txBody>
          <a:bodyPr wrap="square" lIns="0" tIns="0" rIns="0" bIns="0" rtlCol="0" anchor="t"/>
          <a:lstStyle/>
          <a:p>
            <a:pPr indent="0" marL="0">
              <a:buNone/>
            </a:pPr>
            <a:r>
              <a:rPr lang="en-US" sz="1200" dirty="0">
                <a:solidFill>
                  <a:srgbClr val="242A44"/>
                </a:solidFill>
                <a:latin typeface="Calibri" pitchFamily="34" charset="0"/>
                <a:ea typeface="Calibri" pitchFamily="34" charset="-122"/>
                <a:cs typeface="Calibri" pitchFamily="34" charset="-120"/>
              </a:rPr>
              <a:t>Retroalimentación de coordinadores de carrera sobre una muestra de sílabos.</a:t>
            </a:r>
            <a:endParaRPr lang="en-US" sz="1200" dirty="0"/>
          </a:p>
        </p:txBody>
      </p:sp>
      <p:sp>
        <p:nvSpPr>
          <p:cNvPr id="25" name="Slide Number Placeholder 0"/>
          <p:cNvSpPr>
            <a:spLocks noGrp="1"/>
          </p:cNvSpPr>
          <p:nvPr>
            <p:ph type="sldNum" sz="quarter" idx="4294967295"/>
          </p:nvPr>
        </p:nvSpPr>
        <p:spPr>
          <a:xfrm>
            <a:off x="11521440" y="649224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7728F"/>
                </a:solidFill>
                <a:latin typeface="Calibri"/>
                <a:ea typeface="Calibri"/>
                <a:cs typeface="Calibri"/>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822960" y="2377440"/>
            <a:ext cx="10515600" cy="1463040"/>
          </a:xfrm>
          <a:prstGeom prst="rect">
            <a:avLst/>
          </a:prstGeom>
          <a:noFill/>
          <a:ln/>
        </p:spPr>
        <p:txBody>
          <a:bodyPr wrap="square" rtlCol="0"/>
          <a:lstStyle/>
          <a:p>
            <a:pPr algn="l" indent="0" marL="0">
              <a:buNone/>
            </a:pPr>
            <a:r>
              <a:rPr lang="en-US" sz="4000" b="1" dirty="0">
                <a:solidFill>
                  <a:srgbClr val="FFFFFF"/>
                </a:solidFill>
                <a:latin typeface="Cambria" pitchFamily="34" charset="0"/>
                <a:ea typeface="Cambria" pitchFamily="34" charset="-122"/>
                <a:cs typeface="Cambria" pitchFamily="34" charset="-120"/>
              </a:rPr>
              <a:t>Preguntas</a:t>
            </a:r>
            <a:endParaRPr lang="en-US" sz="4000" dirty="0"/>
          </a:p>
        </p:txBody>
      </p:sp>
      <p:sp>
        <p:nvSpPr>
          <p:cNvPr id="3" name="Text 0"/>
          <p:cNvSpPr/>
          <p:nvPr>
            <p:ph idx="101" type="body" hasCustomPrompt="1"/>
          </p:nvPr>
        </p:nvSpPr>
        <p:spPr>
          <a:xfrm>
            <a:off x="822960" y="3886200"/>
            <a:ext cx="9601200" cy="1097280"/>
          </a:xfrm>
          <a:prstGeom prst="rect">
            <a:avLst/>
          </a:prstGeom>
          <a:noFill/>
          <a:ln/>
        </p:spPr>
        <p:txBody>
          <a:bodyPr wrap="square" rtlCol="0"/>
          <a:lstStyle/>
          <a:p>
            <a:pPr algn="l" indent="0" marL="0">
              <a:buNone/>
            </a:pPr>
            <a:r>
              <a:rPr lang="en-US" sz="1800" dirty="0">
                <a:solidFill>
                  <a:srgbClr val="EEF1F8"/>
                </a:solidFill>
                <a:latin typeface="Calibri" pitchFamily="34" charset="0"/>
                <a:ea typeface="Calibri" pitchFamily="34" charset="-122"/>
                <a:cs typeface="Calibri" pitchFamily="34" charset="-120"/>
              </a:rPr>
              <a:t>Ya en producción, integrado en la Vibe Coding Platform — no un prototipo aislado</a:t>
            </a:r>
            <a:endParaRPr lang="en-US" sz="1800" dirty="0"/>
          </a:p>
        </p:txBody>
      </p:sp>
      <p:sp>
        <p:nvSpPr>
          <p:cNvPr id="4" name="Text 2"/>
          <p:cNvSpPr txBox="1"/>
          <p:nvPr/>
        </p:nvSpPr>
        <p:spPr>
          <a:xfrm>
            <a:off x="822960" y="4754880"/>
            <a:ext cx="10058400" cy="365760"/>
          </a:xfrm>
          <a:prstGeom prst="rect">
            <a:avLst/>
          </a:prstGeom>
          <a:noFill/>
          <a:ln/>
        </p:spPr>
        <p:txBody>
          <a:bodyPr wrap="square" lIns="0" tIns="0" rIns="0" bIns="0" rtlCol="0" anchor="ctr"/>
          <a:lstStyle/>
          <a:p>
            <a:pPr indent="0" marL="0">
              <a:buNone/>
            </a:pPr>
            <a:r>
              <a:rPr lang="en-US" sz="1300" dirty="0">
                <a:solidFill>
                  <a:srgbClr val="3CBDC7"/>
                </a:solidFill>
                <a:latin typeface="Calibri" pitchFamily="34" charset="0"/>
                <a:ea typeface="Calibri" pitchFamily="34" charset="-122"/>
                <a:cs typeface="Calibri" pitchFamily="34" charset="-120"/>
              </a:rPr>
              <a:t>vibe-coding-platform.franciscohiguera.site  ·  francisco.higuera@ute.edu.ec</a:t>
            </a:r>
            <a:endParaRPr lang="en-US" sz="1300" dirty="0"/>
          </a:p>
        </p:txBody>
      </p:sp>
    </p:spTree>
  </p:cSld>
  <p:clrMapOvr>
    <a:masterClrMapping/>
  </p:clrMapOvr>
</p:sld>
</file>

<file path=ppt/theme/theme1.xml><?xml version="1.0" encoding="utf-8"?>
<a:theme xmlns:a="http://schemas.openxmlformats.org/drawingml/2006/main" name="VibeCoding RAG">
  <a:themeElements>
    <a:clrScheme name="VibeCoding RAG">
      <a:dk1>
        <a:srgbClr val="121526"/>
      </a:dk1>
      <a:lt1>
        <a:srgbClr val="FFFFFF"/>
      </a:lt1>
      <a:dk2>
        <a:srgbClr val="242A44"/>
      </a:dk2>
      <a:lt2>
        <a:srgbClr val="EEF1F8"/>
      </a:lt2>
      <a:accent1>
        <a:srgbClr val="1AA3AF"/>
      </a:accent1>
      <a:accent2>
        <a:srgbClr val="11838D"/>
      </a:accent2>
      <a:accent3>
        <a:srgbClr val="414C74"/>
      </a:accent3>
      <a:accent4>
        <a:srgbClr val="3CBDC7"/>
      </a:accent4>
      <a:accent5>
        <a:srgbClr val="67728F"/>
      </a:accent5>
      <a:accent6>
        <a:srgbClr val="5F6B97"/>
      </a:accent6>
      <a:hlink>
        <a:srgbClr val="1AA3AF"/>
      </a:hlink>
      <a:folHlink>
        <a:srgbClr val="11838D"/>
      </a:folHlink>
    </a:clrScheme>
    <a:fontScheme name="VibeCoding RAG">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2026-10-11T02:03:11Z</dcterms:created>
  <dcterms:modified xsi:type="dcterms:W3CDTF">2026-10-11T02:03:11Z</dcterms:modified>
</cp:coreProperties>
</file>